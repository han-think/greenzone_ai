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Poppins" charset="1" panose="00000500000000000000"/>
      <p:regular r:id="rId34"/>
    </p:embeddedFont>
    <p:embeddedFont>
      <p:font typeface="Poppins Bold" charset="1" panose="00000800000000000000"/>
      <p:regular r:id="rId35"/>
    </p:embeddedFont>
    <p:embeddedFont>
      <p:font typeface="Canva Sans" charset="1" panose="020B05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19992" y="-1680508"/>
            <a:ext cx="13648016" cy="1364801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40768" y="-164456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367381" y="-633119"/>
            <a:ext cx="11553237" cy="1155323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76280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37613" y="4282161"/>
            <a:ext cx="1634041" cy="16340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2086248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1" y="0"/>
                </a:moveTo>
                <a:lnTo>
                  <a:pt x="0" y="0"/>
                </a:lnTo>
                <a:lnTo>
                  <a:pt x="0" y="503483"/>
                </a:lnTo>
                <a:lnTo>
                  <a:pt x="336771" y="503483"/>
                </a:lnTo>
                <a:lnTo>
                  <a:pt x="33677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191921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153255" y="4282161"/>
            <a:ext cx="1634041" cy="163404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801890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0" y="0"/>
                </a:lnTo>
                <a:lnTo>
                  <a:pt x="336770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142194" y="6776560"/>
            <a:ext cx="2003612" cy="775869"/>
            <a:chOff x="0" y="0"/>
            <a:chExt cx="2098984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98984" cy="812800"/>
            </a:xfrm>
            <a:custGeom>
              <a:avLst/>
              <a:gdLst/>
              <a:ahLst/>
              <a:cxnLst/>
              <a:rect r="r" b="b" t="t" l="l"/>
              <a:pathLst>
                <a:path h="812800" w="2098984">
                  <a:moveTo>
                    <a:pt x="386398" y="0"/>
                  </a:moveTo>
                  <a:lnTo>
                    <a:pt x="1712586" y="0"/>
                  </a:lnTo>
                  <a:cubicBezTo>
                    <a:pt x="1925987" y="0"/>
                    <a:pt x="2098984" y="172996"/>
                    <a:pt x="2098984" y="386398"/>
                  </a:cubicBezTo>
                  <a:lnTo>
                    <a:pt x="2098984" y="426402"/>
                  </a:lnTo>
                  <a:cubicBezTo>
                    <a:pt x="2098984" y="639804"/>
                    <a:pt x="1925987" y="812800"/>
                    <a:pt x="1712586" y="812800"/>
                  </a:cubicBezTo>
                  <a:lnTo>
                    <a:pt x="386398" y="812800"/>
                  </a:lnTo>
                  <a:cubicBezTo>
                    <a:pt x="172996" y="812800"/>
                    <a:pt x="0" y="639804"/>
                    <a:pt x="0" y="426402"/>
                  </a:cubicBezTo>
                  <a:lnTo>
                    <a:pt x="0" y="386398"/>
                  </a:lnTo>
                  <a:cubicBezTo>
                    <a:pt x="0" y="172996"/>
                    <a:pt x="172996" y="0"/>
                    <a:pt x="386398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9898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757405" y="4133038"/>
            <a:ext cx="10773189" cy="227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85"/>
              </a:lnSpc>
              <a:spcBef>
                <a:spcPct val="0"/>
              </a:spcBef>
            </a:pPr>
            <a:r>
              <a:rPr lang="en-US" b="true" sz="12560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42194" y="7016823"/>
            <a:ext cx="2003612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Explore Now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16771" y="3898635"/>
            <a:ext cx="7454458" cy="50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  <a:spcBef>
                <a:spcPct val="0"/>
              </a:spcBef>
            </a:pPr>
            <a:r>
              <a:rPr lang="en-US" b="true" sz="2886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데이터 기반 쓰레기 배출 거점 최적화 분석 시스템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28496" y="2052641"/>
            <a:ext cx="1231008" cy="131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97"/>
              </a:lnSpc>
              <a:spcBef>
                <a:spcPct val="0"/>
              </a:spcBef>
            </a:pPr>
            <a:r>
              <a:rPr lang="en-US" sz="77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314040" y="2497113"/>
            <a:ext cx="1898560" cy="1304496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8316800" y="6477427"/>
            <a:ext cx="1893040" cy="1312494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8532606" y="4267293"/>
            <a:ext cx="2635124" cy="563602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530566" y="5475506"/>
            <a:ext cx="2639203" cy="54418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792023" y="1731496"/>
            <a:ext cx="6824008" cy="68240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52411" y="2489522"/>
            <a:ext cx="5862965" cy="5855636"/>
          </a:xfrm>
          <a:custGeom>
            <a:avLst/>
            <a:gdLst/>
            <a:ahLst/>
            <a:cxnLst/>
            <a:rect r="r" b="b" t="t" l="l"/>
            <a:pathLst>
              <a:path h="5855636" w="5862965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315717" y="2255191"/>
            <a:ext cx="5776619" cy="577661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47893" y="1855723"/>
            <a:ext cx="5227870" cy="1272624"/>
            <a:chOff x="0" y="0"/>
            <a:chExt cx="1070069" cy="2604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0069" cy="260488"/>
            </a:xfrm>
            <a:custGeom>
              <a:avLst/>
              <a:gdLst/>
              <a:ahLst/>
              <a:cxnLst/>
              <a:rect r="r" b="b" t="t" l="l"/>
              <a:pathLst>
                <a:path h="260488" w="1070069">
                  <a:moveTo>
                    <a:pt x="130244" y="0"/>
                  </a:moveTo>
                  <a:lnTo>
                    <a:pt x="939825" y="0"/>
                  </a:lnTo>
                  <a:cubicBezTo>
                    <a:pt x="1011757" y="0"/>
                    <a:pt x="1070069" y="58312"/>
                    <a:pt x="1070069" y="130244"/>
                  </a:cubicBezTo>
                  <a:lnTo>
                    <a:pt x="1070069" y="130244"/>
                  </a:lnTo>
                  <a:cubicBezTo>
                    <a:pt x="1070069" y="164787"/>
                    <a:pt x="1056347" y="197915"/>
                    <a:pt x="1031921" y="222340"/>
                  </a:cubicBezTo>
                  <a:cubicBezTo>
                    <a:pt x="1007496" y="246766"/>
                    <a:pt x="974368" y="260488"/>
                    <a:pt x="939825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70069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820934" y="2012087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796997" y="1971051"/>
            <a:ext cx="1011607" cy="101160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04764" y="2367684"/>
            <a:ext cx="218342" cy="21834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6B3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057213" y="2199226"/>
            <a:ext cx="3707763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프로젝트 개요 및 기획 배경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32277" y="2244238"/>
            <a:ext cx="741046" cy="39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496B3B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604025" y="3623366"/>
            <a:ext cx="5315278" cy="1272624"/>
            <a:chOff x="0" y="0"/>
            <a:chExt cx="1087960" cy="2604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7960" cy="260488"/>
            </a:xfrm>
            <a:custGeom>
              <a:avLst/>
              <a:gdLst/>
              <a:ahLst/>
              <a:cxnLst/>
              <a:rect r="r" b="b" t="t" l="l"/>
              <a:pathLst>
                <a:path h="260488" w="1087960">
                  <a:moveTo>
                    <a:pt x="130244" y="0"/>
                  </a:moveTo>
                  <a:lnTo>
                    <a:pt x="957716" y="0"/>
                  </a:lnTo>
                  <a:cubicBezTo>
                    <a:pt x="992259" y="0"/>
                    <a:pt x="1025387" y="13722"/>
                    <a:pt x="1049812" y="38148"/>
                  </a:cubicBezTo>
                  <a:cubicBezTo>
                    <a:pt x="1074238" y="62573"/>
                    <a:pt x="1087960" y="95701"/>
                    <a:pt x="1087960" y="130244"/>
                  </a:cubicBezTo>
                  <a:lnTo>
                    <a:pt x="1087960" y="130244"/>
                  </a:lnTo>
                  <a:cubicBezTo>
                    <a:pt x="1087960" y="202175"/>
                    <a:pt x="1029648" y="260488"/>
                    <a:pt x="957716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87960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777067" y="3779730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1753129" y="3738694"/>
            <a:ext cx="1011607" cy="101160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060897" y="4135327"/>
            <a:ext cx="218342" cy="21834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6B3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105649" y="4032868"/>
            <a:ext cx="3781698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타깃 사용자 및 서비스 정의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88409" y="4011881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496B3B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604025" y="5391009"/>
            <a:ext cx="5320290" cy="1272624"/>
            <a:chOff x="0" y="0"/>
            <a:chExt cx="1088986" cy="2604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8986" cy="260488"/>
            </a:xfrm>
            <a:custGeom>
              <a:avLst/>
              <a:gdLst/>
              <a:ahLst/>
              <a:cxnLst/>
              <a:rect r="r" b="b" t="t" l="l"/>
              <a:pathLst>
                <a:path h="260488" w="1088986">
                  <a:moveTo>
                    <a:pt x="130244" y="0"/>
                  </a:moveTo>
                  <a:lnTo>
                    <a:pt x="958742" y="0"/>
                  </a:lnTo>
                  <a:cubicBezTo>
                    <a:pt x="993285" y="0"/>
                    <a:pt x="1026413" y="13722"/>
                    <a:pt x="1050838" y="38148"/>
                  </a:cubicBezTo>
                  <a:cubicBezTo>
                    <a:pt x="1075264" y="62573"/>
                    <a:pt x="1088986" y="95701"/>
                    <a:pt x="1088986" y="130244"/>
                  </a:cubicBezTo>
                  <a:lnTo>
                    <a:pt x="1088986" y="130244"/>
                  </a:lnTo>
                  <a:cubicBezTo>
                    <a:pt x="1088986" y="202175"/>
                    <a:pt x="1030673" y="260488"/>
                    <a:pt x="958742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88986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1777067" y="5547373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1753129" y="5506337"/>
            <a:ext cx="1011607" cy="1011607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060897" y="5902970"/>
            <a:ext cx="218342" cy="218342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6B3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105649" y="5800511"/>
            <a:ext cx="3818666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시스템 구조 및 데이터 설계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888409" y="5779525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496B3B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647893" y="7158653"/>
            <a:ext cx="4950613" cy="1272624"/>
            <a:chOff x="0" y="0"/>
            <a:chExt cx="1013318" cy="2604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0820934" y="731501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0796997" y="7273980"/>
            <a:ext cx="1011607" cy="1011607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104764" y="7670613"/>
            <a:ext cx="218342" cy="218342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6B3B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149516" y="7568154"/>
            <a:ext cx="3448990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주요 기능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932277" y="7547168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496B3B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769268" y="4358459"/>
            <a:ext cx="4869518" cy="136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85"/>
              </a:lnSpc>
              <a:spcBef>
                <a:spcPct val="0"/>
              </a:spcBef>
            </a:pPr>
            <a:r>
              <a:rPr lang="en-US" b="true" sz="7560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29243" y="2828005"/>
            <a:ext cx="7079482" cy="3060224"/>
            <a:chOff x="0" y="0"/>
            <a:chExt cx="1716126" cy="7418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6126" cy="741824"/>
            </a:xfrm>
            <a:custGeom>
              <a:avLst/>
              <a:gdLst/>
              <a:ahLst/>
              <a:cxnLst/>
              <a:rect r="r" b="b" t="t" l="l"/>
              <a:pathLst>
                <a:path h="741824" w="1716126">
                  <a:moveTo>
                    <a:pt x="54679" y="0"/>
                  </a:moveTo>
                  <a:lnTo>
                    <a:pt x="1661447" y="0"/>
                  </a:lnTo>
                  <a:cubicBezTo>
                    <a:pt x="1691645" y="0"/>
                    <a:pt x="1716126" y="24480"/>
                    <a:pt x="1716126" y="54679"/>
                  </a:cubicBezTo>
                  <a:lnTo>
                    <a:pt x="1716126" y="687145"/>
                  </a:lnTo>
                  <a:cubicBezTo>
                    <a:pt x="1716126" y="701647"/>
                    <a:pt x="1710365" y="715555"/>
                    <a:pt x="1700111" y="725809"/>
                  </a:cubicBezTo>
                  <a:cubicBezTo>
                    <a:pt x="1689857" y="736063"/>
                    <a:pt x="1675949" y="741824"/>
                    <a:pt x="1661447" y="741824"/>
                  </a:cubicBezTo>
                  <a:lnTo>
                    <a:pt x="54679" y="741824"/>
                  </a:lnTo>
                  <a:cubicBezTo>
                    <a:pt x="24480" y="741824"/>
                    <a:pt x="0" y="717343"/>
                    <a:pt x="0" y="687145"/>
                  </a:cubicBezTo>
                  <a:lnTo>
                    <a:pt x="0" y="54679"/>
                  </a:lnTo>
                  <a:cubicBezTo>
                    <a:pt x="0" y="40177"/>
                    <a:pt x="5761" y="26269"/>
                    <a:pt x="16015" y="16015"/>
                  </a:cubicBezTo>
                  <a:cubicBezTo>
                    <a:pt x="26269" y="5761"/>
                    <a:pt x="40177" y="0"/>
                    <a:pt x="54679" y="0"/>
                  </a:cubicBezTo>
                  <a:close/>
                </a:path>
              </a:pathLst>
            </a:custGeom>
            <a:solidFill>
              <a:srgbClr val="ECF4E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16126" cy="779924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79274" y="2828005"/>
            <a:ext cx="7079482" cy="3060224"/>
            <a:chOff x="0" y="0"/>
            <a:chExt cx="1716126" cy="741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16126" cy="741824"/>
            </a:xfrm>
            <a:custGeom>
              <a:avLst/>
              <a:gdLst/>
              <a:ahLst/>
              <a:cxnLst/>
              <a:rect r="r" b="b" t="t" l="l"/>
              <a:pathLst>
                <a:path h="741824" w="1716126">
                  <a:moveTo>
                    <a:pt x="54679" y="0"/>
                  </a:moveTo>
                  <a:lnTo>
                    <a:pt x="1661447" y="0"/>
                  </a:lnTo>
                  <a:cubicBezTo>
                    <a:pt x="1691645" y="0"/>
                    <a:pt x="1716126" y="24480"/>
                    <a:pt x="1716126" y="54679"/>
                  </a:cubicBezTo>
                  <a:lnTo>
                    <a:pt x="1716126" y="687145"/>
                  </a:lnTo>
                  <a:cubicBezTo>
                    <a:pt x="1716126" y="701647"/>
                    <a:pt x="1710365" y="715555"/>
                    <a:pt x="1700111" y="725809"/>
                  </a:cubicBezTo>
                  <a:cubicBezTo>
                    <a:pt x="1689857" y="736063"/>
                    <a:pt x="1675949" y="741824"/>
                    <a:pt x="1661447" y="741824"/>
                  </a:cubicBezTo>
                  <a:lnTo>
                    <a:pt x="54679" y="741824"/>
                  </a:lnTo>
                  <a:cubicBezTo>
                    <a:pt x="24480" y="741824"/>
                    <a:pt x="0" y="717343"/>
                    <a:pt x="0" y="687145"/>
                  </a:cubicBezTo>
                  <a:lnTo>
                    <a:pt x="0" y="54679"/>
                  </a:lnTo>
                  <a:cubicBezTo>
                    <a:pt x="0" y="40177"/>
                    <a:pt x="5761" y="26269"/>
                    <a:pt x="16015" y="16015"/>
                  </a:cubicBezTo>
                  <a:cubicBezTo>
                    <a:pt x="26269" y="5761"/>
                    <a:pt x="40177" y="0"/>
                    <a:pt x="54679" y="0"/>
                  </a:cubicBezTo>
                  <a:close/>
                </a:path>
              </a:pathLst>
            </a:custGeom>
            <a:solidFill>
              <a:srgbClr val="ECF4E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16126" cy="779924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29243" y="6269229"/>
            <a:ext cx="7079482" cy="3060224"/>
            <a:chOff x="0" y="0"/>
            <a:chExt cx="1716126" cy="741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16126" cy="741824"/>
            </a:xfrm>
            <a:custGeom>
              <a:avLst/>
              <a:gdLst/>
              <a:ahLst/>
              <a:cxnLst/>
              <a:rect r="r" b="b" t="t" l="l"/>
              <a:pathLst>
                <a:path h="741824" w="1716126">
                  <a:moveTo>
                    <a:pt x="54679" y="0"/>
                  </a:moveTo>
                  <a:lnTo>
                    <a:pt x="1661447" y="0"/>
                  </a:lnTo>
                  <a:cubicBezTo>
                    <a:pt x="1691645" y="0"/>
                    <a:pt x="1716126" y="24480"/>
                    <a:pt x="1716126" y="54679"/>
                  </a:cubicBezTo>
                  <a:lnTo>
                    <a:pt x="1716126" y="687145"/>
                  </a:lnTo>
                  <a:cubicBezTo>
                    <a:pt x="1716126" y="701647"/>
                    <a:pt x="1710365" y="715555"/>
                    <a:pt x="1700111" y="725809"/>
                  </a:cubicBezTo>
                  <a:cubicBezTo>
                    <a:pt x="1689857" y="736063"/>
                    <a:pt x="1675949" y="741824"/>
                    <a:pt x="1661447" y="741824"/>
                  </a:cubicBezTo>
                  <a:lnTo>
                    <a:pt x="54679" y="741824"/>
                  </a:lnTo>
                  <a:cubicBezTo>
                    <a:pt x="24480" y="741824"/>
                    <a:pt x="0" y="717343"/>
                    <a:pt x="0" y="687145"/>
                  </a:cubicBezTo>
                  <a:lnTo>
                    <a:pt x="0" y="54679"/>
                  </a:lnTo>
                  <a:cubicBezTo>
                    <a:pt x="0" y="40177"/>
                    <a:pt x="5761" y="26269"/>
                    <a:pt x="16015" y="16015"/>
                  </a:cubicBezTo>
                  <a:cubicBezTo>
                    <a:pt x="26269" y="5761"/>
                    <a:pt x="40177" y="0"/>
                    <a:pt x="54679" y="0"/>
                  </a:cubicBezTo>
                  <a:close/>
                </a:path>
              </a:pathLst>
            </a:custGeom>
            <a:solidFill>
              <a:srgbClr val="ECF4E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16126" cy="779924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79274" y="6269229"/>
            <a:ext cx="7079482" cy="3060224"/>
            <a:chOff x="0" y="0"/>
            <a:chExt cx="1716126" cy="741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16126" cy="741824"/>
            </a:xfrm>
            <a:custGeom>
              <a:avLst/>
              <a:gdLst/>
              <a:ahLst/>
              <a:cxnLst/>
              <a:rect r="r" b="b" t="t" l="l"/>
              <a:pathLst>
                <a:path h="741824" w="1716126">
                  <a:moveTo>
                    <a:pt x="54679" y="0"/>
                  </a:moveTo>
                  <a:lnTo>
                    <a:pt x="1661447" y="0"/>
                  </a:lnTo>
                  <a:cubicBezTo>
                    <a:pt x="1691645" y="0"/>
                    <a:pt x="1716126" y="24480"/>
                    <a:pt x="1716126" y="54679"/>
                  </a:cubicBezTo>
                  <a:lnTo>
                    <a:pt x="1716126" y="687145"/>
                  </a:lnTo>
                  <a:cubicBezTo>
                    <a:pt x="1716126" y="701647"/>
                    <a:pt x="1710365" y="715555"/>
                    <a:pt x="1700111" y="725809"/>
                  </a:cubicBezTo>
                  <a:cubicBezTo>
                    <a:pt x="1689857" y="736063"/>
                    <a:pt x="1675949" y="741824"/>
                    <a:pt x="1661447" y="741824"/>
                  </a:cubicBezTo>
                  <a:lnTo>
                    <a:pt x="54679" y="741824"/>
                  </a:lnTo>
                  <a:cubicBezTo>
                    <a:pt x="24480" y="741824"/>
                    <a:pt x="0" y="717343"/>
                    <a:pt x="0" y="687145"/>
                  </a:cubicBezTo>
                  <a:lnTo>
                    <a:pt x="0" y="54679"/>
                  </a:lnTo>
                  <a:cubicBezTo>
                    <a:pt x="0" y="40177"/>
                    <a:pt x="5761" y="26269"/>
                    <a:pt x="16015" y="16015"/>
                  </a:cubicBezTo>
                  <a:cubicBezTo>
                    <a:pt x="26269" y="5761"/>
                    <a:pt x="40177" y="0"/>
                    <a:pt x="54679" y="0"/>
                  </a:cubicBezTo>
                  <a:close/>
                </a:path>
              </a:pathLst>
            </a:custGeom>
            <a:solidFill>
              <a:srgbClr val="ECF4E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16126" cy="779924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76292" y="1063937"/>
            <a:ext cx="12535415" cy="128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4560" b="true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 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b="true" sz="2460">
                <a:solidFill>
                  <a:srgbClr val="5D6262"/>
                </a:solidFill>
                <a:latin typeface="Poppins Bold"/>
                <a:ea typeface="Poppins Bold"/>
                <a:cs typeface="Poppins Bold"/>
                <a:sym typeface="Poppins Bold"/>
              </a:rPr>
              <a:t>각자의 역할이 하나의 서비스로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63086" y="3195637"/>
            <a:ext cx="3455051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데이터 정리·공간 분석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2263086" y="3918903"/>
            <a:ext cx="5370421" cy="135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전반적인 원천·가공 데이터 정리 및 분석</a:t>
            </a: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생활권 구분과 거점 배치안 도출·비교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272611" y="5158288"/>
            <a:ext cx="5370421" cy="65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18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박재희 / 서울 / 분석</a:t>
            </a:r>
          </a:p>
          <a:p>
            <a:pPr algn="l">
              <a:lnSpc>
                <a:spcPts val="2605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7034202" y="3243262"/>
            <a:ext cx="1326447" cy="5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GitHub hihiimj</a:t>
            </a:r>
          </a:p>
          <a:p>
            <a:pPr algn="l">
              <a:lnSpc>
                <a:spcPts val="2045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9813116" y="3195637"/>
            <a:ext cx="3721769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지도 서비스·공간 시각화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813116" y="3918903"/>
            <a:ext cx="5370421" cy="135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주소</a:t>
            </a: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·건물 검색과 지도 화면 구성</a:t>
            </a: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거점·필지 데이터의 탐색과 표시 연결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822641" y="5158288"/>
            <a:ext cx="5370421" cy="65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18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김낙준 / 서울 / 개발</a:t>
            </a:r>
          </a:p>
          <a:p>
            <a:pPr algn="l">
              <a:lnSpc>
                <a:spcPts val="2605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4626968" y="3243262"/>
            <a:ext cx="1313874" cy="5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GitHub SnNiFe</a:t>
            </a:r>
          </a:p>
          <a:p>
            <a:pPr algn="l">
              <a:lnSpc>
                <a:spcPts val="2045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263086" y="6636861"/>
            <a:ext cx="3455051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사용자 친화적 UI 구성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2263086" y="7360127"/>
            <a:ext cx="5370421" cy="135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공통 내비게이션 및 기능별 메뉴 연결</a:t>
            </a: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사용 흐름을 고려한 화면·접근성 개선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272611" y="8599512"/>
            <a:ext cx="5370421" cy="65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18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장다경 / 서울 / 개발</a:t>
            </a:r>
          </a:p>
          <a:p>
            <a:pPr algn="l">
              <a:lnSpc>
                <a:spcPts val="2605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6864058" y="6684486"/>
            <a:ext cx="1496591" cy="5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GitHub dg-logs</a:t>
            </a:r>
          </a:p>
          <a:p>
            <a:pPr algn="l">
              <a:lnSpc>
                <a:spcPts val="2045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9813116" y="6636861"/>
            <a:ext cx="4201863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PM · 종합 구조와 최종 통합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9813116" y="7360127"/>
            <a:ext cx="5370421" cy="135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전체</a:t>
            </a: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서비스 구조 설계와 작업 방향 조율</a:t>
            </a: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분석·지도·UI 결과물 최종 연결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9822641" y="8599512"/>
            <a:ext cx="5370421" cy="65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18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이원홍 / 대구 / 개발</a:t>
            </a:r>
          </a:p>
          <a:p>
            <a:pPr algn="l">
              <a:lnSpc>
                <a:spcPts val="2605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4289125" y="6684486"/>
            <a:ext cx="1651717" cy="5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GitHub Han-think</a:t>
            </a:r>
          </a:p>
          <a:p>
            <a:pPr algn="l">
              <a:lnSpc>
                <a:spcPts val="20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C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72151" y="4981575"/>
            <a:ext cx="8543698" cy="104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  <a:spcBef>
                <a:spcPct val="0"/>
              </a:spcBef>
            </a:pPr>
            <a:r>
              <a:rPr lang="en-US" b="true" sz="5829">
                <a:solidFill>
                  <a:srgbClr val="1F4210"/>
                </a:solidFill>
                <a:latin typeface="Poppins Bold"/>
                <a:ea typeface="Poppins Bold"/>
                <a:cs typeface="Poppins Bold"/>
                <a:sym typeface="Poppins Bold"/>
              </a:rPr>
              <a:t>프로젝트 개요 및 기획 배경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55784" y="4101173"/>
            <a:ext cx="1976431" cy="626546"/>
            <a:chOff x="0" y="0"/>
            <a:chExt cx="359668" cy="1140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9668" cy="114018"/>
            </a:xfrm>
            <a:custGeom>
              <a:avLst/>
              <a:gdLst/>
              <a:ahLst/>
              <a:cxnLst/>
              <a:rect r="r" b="b" t="t" l="l"/>
              <a:pathLst>
                <a:path h="114018" w="359668">
                  <a:moveTo>
                    <a:pt x="57009" y="0"/>
                  </a:moveTo>
                  <a:lnTo>
                    <a:pt x="302659" y="0"/>
                  </a:lnTo>
                  <a:cubicBezTo>
                    <a:pt x="334145" y="0"/>
                    <a:pt x="359668" y="25524"/>
                    <a:pt x="359668" y="57009"/>
                  </a:cubicBezTo>
                  <a:lnTo>
                    <a:pt x="359668" y="57009"/>
                  </a:lnTo>
                  <a:cubicBezTo>
                    <a:pt x="359668" y="72129"/>
                    <a:pt x="353662" y="86629"/>
                    <a:pt x="342971" y="97321"/>
                  </a:cubicBezTo>
                  <a:cubicBezTo>
                    <a:pt x="332279" y="108012"/>
                    <a:pt x="317779" y="114018"/>
                    <a:pt x="302659" y="114018"/>
                  </a:cubicBezTo>
                  <a:lnTo>
                    <a:pt x="57009" y="114018"/>
                  </a:lnTo>
                  <a:cubicBezTo>
                    <a:pt x="25524" y="114018"/>
                    <a:pt x="0" y="88494"/>
                    <a:pt x="0" y="57009"/>
                  </a:cubicBezTo>
                  <a:lnTo>
                    <a:pt x="0" y="57009"/>
                  </a:lnTo>
                  <a:cubicBezTo>
                    <a:pt x="0" y="25524"/>
                    <a:pt x="25524" y="0"/>
                    <a:pt x="57009" y="0"/>
                  </a:cubicBezTo>
                  <a:close/>
                </a:path>
              </a:pathLst>
            </a:custGeom>
            <a:solidFill>
              <a:srgbClr val="ECF4E3"/>
            </a:solidFill>
            <a:ln w="19050" cap="rnd">
              <a:solidFill>
                <a:srgbClr val="4F823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9668" cy="15211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18006" y="4182949"/>
            <a:ext cx="1851988" cy="40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CHAPTER 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23926" y="1397614"/>
            <a:ext cx="5196183" cy="1589002"/>
            <a:chOff x="0" y="0"/>
            <a:chExt cx="1063583" cy="3252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3583" cy="325245"/>
            </a:xfrm>
            <a:custGeom>
              <a:avLst/>
              <a:gdLst/>
              <a:ahLst/>
              <a:cxnLst/>
              <a:rect r="r" b="b" t="t" l="l"/>
              <a:pathLst>
                <a:path h="325245" w="1063583">
                  <a:moveTo>
                    <a:pt x="148992" y="0"/>
                  </a:moveTo>
                  <a:lnTo>
                    <a:pt x="914590" y="0"/>
                  </a:lnTo>
                  <a:cubicBezTo>
                    <a:pt x="996877" y="0"/>
                    <a:pt x="1063583" y="66706"/>
                    <a:pt x="1063583" y="148992"/>
                  </a:cubicBezTo>
                  <a:lnTo>
                    <a:pt x="1063583" y="176253"/>
                  </a:lnTo>
                  <a:cubicBezTo>
                    <a:pt x="1063583" y="215768"/>
                    <a:pt x="1047885" y="253665"/>
                    <a:pt x="1019944" y="281607"/>
                  </a:cubicBezTo>
                  <a:cubicBezTo>
                    <a:pt x="992002" y="309548"/>
                    <a:pt x="954106" y="325245"/>
                    <a:pt x="914590" y="325245"/>
                  </a:cubicBezTo>
                  <a:lnTo>
                    <a:pt x="148992" y="325245"/>
                  </a:lnTo>
                  <a:cubicBezTo>
                    <a:pt x="109477" y="325245"/>
                    <a:pt x="71580" y="309548"/>
                    <a:pt x="43639" y="281607"/>
                  </a:cubicBezTo>
                  <a:cubicBezTo>
                    <a:pt x="15697" y="253665"/>
                    <a:pt x="0" y="215768"/>
                    <a:pt x="0" y="176253"/>
                  </a:cubicBezTo>
                  <a:lnTo>
                    <a:pt x="0" y="148992"/>
                  </a:lnTo>
                  <a:cubicBezTo>
                    <a:pt x="0" y="109477"/>
                    <a:pt x="15697" y="71580"/>
                    <a:pt x="43639" y="43639"/>
                  </a:cubicBezTo>
                  <a:cubicBezTo>
                    <a:pt x="71580" y="15697"/>
                    <a:pt x="109477" y="0"/>
                    <a:pt x="1489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63583" cy="3633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218674" y="1640217"/>
            <a:ext cx="2606686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거점 분석</a:t>
            </a:r>
          </a:p>
        </p:txBody>
      </p:sp>
      <p:sp>
        <p:nvSpPr>
          <p:cNvPr name="AutoShape 16" id="16"/>
          <p:cNvSpPr/>
          <p:nvPr/>
        </p:nvSpPr>
        <p:spPr>
          <a:xfrm>
            <a:off x="7813364" y="2192115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387548" y="2082944"/>
            <a:ext cx="218342" cy="21834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5970822" y="-1945794"/>
            <a:ext cx="14585483" cy="1458548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4559324" y="-325607"/>
            <a:ext cx="12531371" cy="12515707"/>
          </a:xfrm>
          <a:custGeom>
            <a:avLst/>
            <a:gdLst/>
            <a:ahLst/>
            <a:cxnLst/>
            <a:rect r="r" b="b" t="t" l="l"/>
            <a:pathLst>
              <a:path h="12515707" w="12531371">
                <a:moveTo>
                  <a:pt x="0" y="0"/>
                </a:moveTo>
                <a:lnTo>
                  <a:pt x="12531371" y="0"/>
                </a:lnTo>
                <a:lnTo>
                  <a:pt x="12531371" y="12515707"/>
                </a:lnTo>
                <a:lnTo>
                  <a:pt x="0" y="12515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-4851489" y="-826461"/>
            <a:ext cx="12346817" cy="1234681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86053" y="3436552"/>
            <a:ext cx="3948976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프로젝트 소개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6876" y="4556191"/>
            <a:ext cx="5413796" cy="29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5"/>
              </a:lnSpc>
            </a:pPr>
            <a:r>
              <a:rPr lang="en-US" sz="33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건물·도로·보호시설 데이터를 바탕으로 생활권과 공동 배출 거점 후보를 분석하고, 실제 주소 검색과 연결하는 웹 서비스</a:t>
            </a:r>
          </a:p>
          <a:p>
            <a:pPr algn="ctr">
              <a:lnSpc>
                <a:spcPts val="4145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1269204" y="2212419"/>
            <a:ext cx="4505627" cy="77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총 9개 생활권을 나누고 거점 배치</a:t>
            </a:r>
          </a:p>
          <a:p>
            <a:pPr algn="ctr">
              <a:lnSpc>
                <a:spcPts val="3002"/>
              </a:lnSpc>
              <a:spcBef>
                <a:spcPct val="0"/>
              </a:spcBef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1634955" y="3471544"/>
            <a:ext cx="5196183" cy="1589002"/>
            <a:chOff x="0" y="0"/>
            <a:chExt cx="1063583" cy="3252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3583" cy="325245"/>
            </a:xfrm>
            <a:custGeom>
              <a:avLst/>
              <a:gdLst/>
              <a:ahLst/>
              <a:cxnLst/>
              <a:rect r="r" b="b" t="t" l="l"/>
              <a:pathLst>
                <a:path h="325245" w="1063583">
                  <a:moveTo>
                    <a:pt x="148992" y="0"/>
                  </a:moveTo>
                  <a:lnTo>
                    <a:pt x="914590" y="0"/>
                  </a:lnTo>
                  <a:cubicBezTo>
                    <a:pt x="996877" y="0"/>
                    <a:pt x="1063583" y="66706"/>
                    <a:pt x="1063583" y="148992"/>
                  </a:cubicBezTo>
                  <a:lnTo>
                    <a:pt x="1063583" y="176253"/>
                  </a:lnTo>
                  <a:cubicBezTo>
                    <a:pt x="1063583" y="215768"/>
                    <a:pt x="1047885" y="253665"/>
                    <a:pt x="1019944" y="281607"/>
                  </a:cubicBezTo>
                  <a:cubicBezTo>
                    <a:pt x="992002" y="309548"/>
                    <a:pt x="954106" y="325245"/>
                    <a:pt x="914590" y="325245"/>
                  </a:cubicBezTo>
                  <a:lnTo>
                    <a:pt x="148992" y="325245"/>
                  </a:lnTo>
                  <a:cubicBezTo>
                    <a:pt x="109477" y="325245"/>
                    <a:pt x="71580" y="309548"/>
                    <a:pt x="43639" y="281607"/>
                  </a:cubicBezTo>
                  <a:cubicBezTo>
                    <a:pt x="15697" y="253665"/>
                    <a:pt x="0" y="215768"/>
                    <a:pt x="0" y="176253"/>
                  </a:cubicBezTo>
                  <a:lnTo>
                    <a:pt x="0" y="148992"/>
                  </a:lnTo>
                  <a:cubicBezTo>
                    <a:pt x="0" y="109477"/>
                    <a:pt x="15697" y="71580"/>
                    <a:pt x="43639" y="43639"/>
                  </a:cubicBezTo>
                  <a:cubicBezTo>
                    <a:pt x="71580" y="15697"/>
                    <a:pt x="109477" y="0"/>
                    <a:pt x="1489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63583" cy="3633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929703" y="3657560"/>
            <a:ext cx="2606686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b="true" sz="2444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주소 기반 안내</a:t>
            </a:r>
          </a:p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AutoShape 36" id="36"/>
          <p:cNvSpPr/>
          <p:nvPr/>
        </p:nvSpPr>
        <p:spPr>
          <a:xfrm>
            <a:off x="8524393" y="4266045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1098577" y="4156874"/>
            <a:ext cx="218342" cy="218342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807594" y="4308541"/>
            <a:ext cx="4850905" cy="77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검색을 통해 해당 생활권과 거점 확인</a:t>
            </a:r>
          </a:p>
          <a:p>
            <a:pPr algn="ctr">
              <a:lnSpc>
                <a:spcPts val="3002"/>
              </a:lnSpc>
              <a:spcBef>
                <a:spcPct val="0"/>
              </a:spcBef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11272909" y="5767163"/>
            <a:ext cx="5196183" cy="1589002"/>
            <a:chOff x="0" y="0"/>
            <a:chExt cx="1063583" cy="3252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3583" cy="325245"/>
            </a:xfrm>
            <a:custGeom>
              <a:avLst/>
              <a:gdLst/>
              <a:ahLst/>
              <a:cxnLst/>
              <a:rect r="r" b="b" t="t" l="l"/>
              <a:pathLst>
                <a:path h="325245" w="1063583">
                  <a:moveTo>
                    <a:pt x="148992" y="0"/>
                  </a:moveTo>
                  <a:lnTo>
                    <a:pt x="914590" y="0"/>
                  </a:lnTo>
                  <a:cubicBezTo>
                    <a:pt x="996877" y="0"/>
                    <a:pt x="1063583" y="66706"/>
                    <a:pt x="1063583" y="148992"/>
                  </a:cubicBezTo>
                  <a:lnTo>
                    <a:pt x="1063583" y="176253"/>
                  </a:lnTo>
                  <a:cubicBezTo>
                    <a:pt x="1063583" y="215768"/>
                    <a:pt x="1047885" y="253665"/>
                    <a:pt x="1019944" y="281607"/>
                  </a:cubicBezTo>
                  <a:cubicBezTo>
                    <a:pt x="992002" y="309548"/>
                    <a:pt x="954106" y="325245"/>
                    <a:pt x="914590" y="325245"/>
                  </a:cubicBezTo>
                  <a:lnTo>
                    <a:pt x="148992" y="325245"/>
                  </a:lnTo>
                  <a:cubicBezTo>
                    <a:pt x="109477" y="325245"/>
                    <a:pt x="71580" y="309548"/>
                    <a:pt x="43639" y="281607"/>
                  </a:cubicBezTo>
                  <a:cubicBezTo>
                    <a:pt x="15697" y="253665"/>
                    <a:pt x="0" y="215768"/>
                    <a:pt x="0" y="176253"/>
                  </a:cubicBezTo>
                  <a:lnTo>
                    <a:pt x="0" y="148992"/>
                  </a:lnTo>
                  <a:cubicBezTo>
                    <a:pt x="0" y="109477"/>
                    <a:pt x="15697" y="71580"/>
                    <a:pt x="43639" y="43639"/>
                  </a:cubicBezTo>
                  <a:cubicBezTo>
                    <a:pt x="71580" y="15697"/>
                    <a:pt x="109477" y="0"/>
                    <a:pt x="1489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63583" cy="3633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586403" y="5984440"/>
            <a:ext cx="2606686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b="true" sz="2444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수거 경로 검토</a:t>
            </a:r>
          </a:p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AutoShape 45" id="45"/>
          <p:cNvSpPr/>
          <p:nvPr/>
        </p:nvSpPr>
        <p:spPr>
          <a:xfrm>
            <a:off x="8162347" y="6561664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0736531" y="6452493"/>
            <a:ext cx="218342" cy="218342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469931" y="6568638"/>
            <a:ext cx="4850905" cy="77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선택한 거점을 방문하는 경로안 확인</a:t>
            </a:r>
          </a:p>
          <a:p>
            <a:pPr algn="ctr">
              <a:lnSpc>
                <a:spcPts val="3002"/>
              </a:lnSpc>
              <a:spcBef>
                <a:spcPct val="0"/>
              </a:spcBef>
            </a:pPr>
          </a:p>
        </p:txBody>
      </p:sp>
      <p:grpSp>
        <p:nvGrpSpPr>
          <p:cNvPr name="Group 50" id="50"/>
          <p:cNvGrpSpPr/>
          <p:nvPr/>
        </p:nvGrpSpPr>
        <p:grpSpPr>
          <a:xfrm rot="0">
            <a:off x="10500875" y="8099766"/>
            <a:ext cx="5196183" cy="1589002"/>
            <a:chOff x="0" y="0"/>
            <a:chExt cx="1063583" cy="3252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3583" cy="325245"/>
            </a:xfrm>
            <a:custGeom>
              <a:avLst/>
              <a:gdLst/>
              <a:ahLst/>
              <a:cxnLst/>
              <a:rect r="r" b="b" t="t" l="l"/>
              <a:pathLst>
                <a:path h="325245" w="1063583">
                  <a:moveTo>
                    <a:pt x="148992" y="0"/>
                  </a:moveTo>
                  <a:lnTo>
                    <a:pt x="914590" y="0"/>
                  </a:lnTo>
                  <a:cubicBezTo>
                    <a:pt x="996877" y="0"/>
                    <a:pt x="1063583" y="66706"/>
                    <a:pt x="1063583" y="148992"/>
                  </a:cubicBezTo>
                  <a:lnTo>
                    <a:pt x="1063583" y="176253"/>
                  </a:lnTo>
                  <a:cubicBezTo>
                    <a:pt x="1063583" y="215768"/>
                    <a:pt x="1047885" y="253665"/>
                    <a:pt x="1019944" y="281607"/>
                  </a:cubicBezTo>
                  <a:cubicBezTo>
                    <a:pt x="992002" y="309548"/>
                    <a:pt x="954106" y="325245"/>
                    <a:pt x="914590" y="325245"/>
                  </a:cubicBezTo>
                  <a:lnTo>
                    <a:pt x="148992" y="325245"/>
                  </a:lnTo>
                  <a:cubicBezTo>
                    <a:pt x="109477" y="325245"/>
                    <a:pt x="71580" y="309548"/>
                    <a:pt x="43639" y="281607"/>
                  </a:cubicBezTo>
                  <a:cubicBezTo>
                    <a:pt x="15697" y="253665"/>
                    <a:pt x="0" y="215768"/>
                    <a:pt x="0" y="176253"/>
                  </a:cubicBezTo>
                  <a:lnTo>
                    <a:pt x="0" y="148992"/>
                  </a:lnTo>
                  <a:cubicBezTo>
                    <a:pt x="0" y="109477"/>
                    <a:pt x="15697" y="71580"/>
                    <a:pt x="43639" y="43639"/>
                  </a:cubicBezTo>
                  <a:cubicBezTo>
                    <a:pt x="71580" y="15697"/>
                    <a:pt x="109477" y="0"/>
                    <a:pt x="1489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63583" cy="3633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778360" y="8311320"/>
            <a:ext cx="2606686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b="true" sz="2444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배출 정보 제공</a:t>
            </a:r>
          </a:p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AutoShape 54" id="54"/>
          <p:cNvSpPr/>
          <p:nvPr/>
        </p:nvSpPr>
        <p:spPr>
          <a:xfrm>
            <a:off x="7390313" y="8894267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9964497" y="8785096"/>
            <a:ext cx="218342" cy="218342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828889" y="8918264"/>
            <a:ext cx="4505627" cy="77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공식 품목·규격·수수료 안내 확인</a:t>
            </a:r>
          </a:p>
          <a:p>
            <a:pPr algn="ctr">
              <a:lnSpc>
                <a:spcPts val="30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23926" y="1397614"/>
            <a:ext cx="5196183" cy="1589002"/>
            <a:chOff x="0" y="0"/>
            <a:chExt cx="1063583" cy="3252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3583" cy="325245"/>
            </a:xfrm>
            <a:custGeom>
              <a:avLst/>
              <a:gdLst/>
              <a:ahLst/>
              <a:cxnLst/>
              <a:rect r="r" b="b" t="t" l="l"/>
              <a:pathLst>
                <a:path h="325245" w="1063583">
                  <a:moveTo>
                    <a:pt x="148992" y="0"/>
                  </a:moveTo>
                  <a:lnTo>
                    <a:pt x="914590" y="0"/>
                  </a:lnTo>
                  <a:cubicBezTo>
                    <a:pt x="996877" y="0"/>
                    <a:pt x="1063583" y="66706"/>
                    <a:pt x="1063583" y="148992"/>
                  </a:cubicBezTo>
                  <a:lnTo>
                    <a:pt x="1063583" y="176253"/>
                  </a:lnTo>
                  <a:cubicBezTo>
                    <a:pt x="1063583" y="215768"/>
                    <a:pt x="1047885" y="253665"/>
                    <a:pt x="1019944" y="281607"/>
                  </a:cubicBezTo>
                  <a:cubicBezTo>
                    <a:pt x="992002" y="309548"/>
                    <a:pt x="954106" y="325245"/>
                    <a:pt x="914590" y="325245"/>
                  </a:cubicBezTo>
                  <a:lnTo>
                    <a:pt x="148992" y="325245"/>
                  </a:lnTo>
                  <a:cubicBezTo>
                    <a:pt x="109477" y="325245"/>
                    <a:pt x="71580" y="309548"/>
                    <a:pt x="43639" y="281607"/>
                  </a:cubicBezTo>
                  <a:cubicBezTo>
                    <a:pt x="15697" y="253665"/>
                    <a:pt x="0" y="215768"/>
                    <a:pt x="0" y="176253"/>
                  </a:cubicBezTo>
                  <a:lnTo>
                    <a:pt x="0" y="148992"/>
                  </a:lnTo>
                  <a:cubicBezTo>
                    <a:pt x="0" y="109477"/>
                    <a:pt x="15697" y="71580"/>
                    <a:pt x="43639" y="43639"/>
                  </a:cubicBezTo>
                  <a:cubicBezTo>
                    <a:pt x="71580" y="15697"/>
                    <a:pt x="109477" y="0"/>
                    <a:pt x="1489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63583" cy="3633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218674" y="1657216"/>
            <a:ext cx="2606686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b="true" sz="2444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주민 관점</a:t>
            </a:r>
          </a:p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AutoShape 16" id="16"/>
          <p:cNvSpPr/>
          <p:nvPr/>
        </p:nvSpPr>
        <p:spPr>
          <a:xfrm>
            <a:off x="7813364" y="2192115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387548" y="2082944"/>
            <a:ext cx="218342" cy="21834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5970822" y="-1945794"/>
            <a:ext cx="14585483" cy="1458548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4559324" y="-325607"/>
            <a:ext cx="12531371" cy="12515707"/>
          </a:xfrm>
          <a:custGeom>
            <a:avLst/>
            <a:gdLst/>
            <a:ahLst/>
            <a:cxnLst/>
            <a:rect r="r" b="b" t="t" l="l"/>
            <a:pathLst>
              <a:path h="12515707" w="12531371">
                <a:moveTo>
                  <a:pt x="0" y="0"/>
                </a:moveTo>
                <a:lnTo>
                  <a:pt x="12531371" y="0"/>
                </a:lnTo>
                <a:lnTo>
                  <a:pt x="12531371" y="12515707"/>
                </a:lnTo>
                <a:lnTo>
                  <a:pt x="0" y="12515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-4851489" y="-826461"/>
            <a:ext cx="12346817" cy="1234681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86053" y="3436552"/>
            <a:ext cx="3948976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추진 배경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9836" y="4548105"/>
            <a:ext cx="5330311" cy="23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5"/>
              </a:lnSpc>
            </a:pPr>
            <a:r>
              <a:rPr lang="en-US" sz="336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주민의 배출 편의성과 수거 차량의 작업 여건을 함께 고려한 공동 배출 거점의 도입 제안</a:t>
            </a:r>
          </a:p>
          <a:p>
            <a:pPr algn="ctr">
              <a:lnSpc>
                <a:spcPts val="4145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1269204" y="2212419"/>
            <a:ext cx="4505627" cy="77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거점까지 이동 거리와 접근성 고려</a:t>
            </a:r>
          </a:p>
          <a:p>
            <a:pPr algn="ctr">
              <a:lnSpc>
                <a:spcPts val="3002"/>
              </a:lnSpc>
              <a:spcBef>
                <a:spcPct val="0"/>
              </a:spcBef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1634955" y="3471544"/>
            <a:ext cx="5196183" cy="1589002"/>
            <a:chOff x="0" y="0"/>
            <a:chExt cx="1063583" cy="3252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3583" cy="325245"/>
            </a:xfrm>
            <a:custGeom>
              <a:avLst/>
              <a:gdLst/>
              <a:ahLst/>
              <a:cxnLst/>
              <a:rect r="r" b="b" t="t" l="l"/>
              <a:pathLst>
                <a:path h="325245" w="1063583">
                  <a:moveTo>
                    <a:pt x="148992" y="0"/>
                  </a:moveTo>
                  <a:lnTo>
                    <a:pt x="914590" y="0"/>
                  </a:lnTo>
                  <a:cubicBezTo>
                    <a:pt x="996877" y="0"/>
                    <a:pt x="1063583" y="66706"/>
                    <a:pt x="1063583" y="148992"/>
                  </a:cubicBezTo>
                  <a:lnTo>
                    <a:pt x="1063583" y="176253"/>
                  </a:lnTo>
                  <a:cubicBezTo>
                    <a:pt x="1063583" y="215768"/>
                    <a:pt x="1047885" y="253665"/>
                    <a:pt x="1019944" y="281607"/>
                  </a:cubicBezTo>
                  <a:cubicBezTo>
                    <a:pt x="992002" y="309548"/>
                    <a:pt x="954106" y="325245"/>
                    <a:pt x="914590" y="325245"/>
                  </a:cubicBezTo>
                  <a:lnTo>
                    <a:pt x="148992" y="325245"/>
                  </a:lnTo>
                  <a:cubicBezTo>
                    <a:pt x="109477" y="325245"/>
                    <a:pt x="71580" y="309548"/>
                    <a:pt x="43639" y="281607"/>
                  </a:cubicBezTo>
                  <a:cubicBezTo>
                    <a:pt x="15697" y="253665"/>
                    <a:pt x="0" y="215768"/>
                    <a:pt x="0" y="176253"/>
                  </a:cubicBezTo>
                  <a:lnTo>
                    <a:pt x="0" y="148992"/>
                  </a:lnTo>
                  <a:cubicBezTo>
                    <a:pt x="0" y="109477"/>
                    <a:pt x="15697" y="71580"/>
                    <a:pt x="43639" y="43639"/>
                  </a:cubicBezTo>
                  <a:cubicBezTo>
                    <a:pt x="71580" y="15697"/>
                    <a:pt x="109477" y="0"/>
                    <a:pt x="1489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63583" cy="3633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929703" y="3683097"/>
            <a:ext cx="2606686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b="true" sz="2444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수거 관점</a:t>
            </a:r>
          </a:p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AutoShape 36" id="36"/>
          <p:cNvSpPr/>
          <p:nvPr/>
        </p:nvSpPr>
        <p:spPr>
          <a:xfrm>
            <a:off x="8524393" y="4266045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1098577" y="4156874"/>
            <a:ext cx="218342" cy="218342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980233" y="4308541"/>
            <a:ext cx="4505627" cy="77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도로 여건과 수거 차량의 작업 조건 고려</a:t>
            </a:r>
          </a:p>
          <a:p>
            <a:pPr algn="ctr">
              <a:lnSpc>
                <a:spcPts val="3002"/>
              </a:lnSpc>
              <a:spcBef>
                <a:spcPct val="0"/>
              </a:spcBef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11272909" y="5767163"/>
            <a:ext cx="5196183" cy="1589002"/>
            <a:chOff x="0" y="0"/>
            <a:chExt cx="1063583" cy="3252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3583" cy="325245"/>
            </a:xfrm>
            <a:custGeom>
              <a:avLst/>
              <a:gdLst/>
              <a:ahLst/>
              <a:cxnLst/>
              <a:rect r="r" b="b" t="t" l="l"/>
              <a:pathLst>
                <a:path h="325245" w="1063583">
                  <a:moveTo>
                    <a:pt x="148992" y="0"/>
                  </a:moveTo>
                  <a:lnTo>
                    <a:pt x="914590" y="0"/>
                  </a:lnTo>
                  <a:cubicBezTo>
                    <a:pt x="996877" y="0"/>
                    <a:pt x="1063583" y="66706"/>
                    <a:pt x="1063583" y="148992"/>
                  </a:cubicBezTo>
                  <a:lnTo>
                    <a:pt x="1063583" y="176253"/>
                  </a:lnTo>
                  <a:cubicBezTo>
                    <a:pt x="1063583" y="215768"/>
                    <a:pt x="1047885" y="253665"/>
                    <a:pt x="1019944" y="281607"/>
                  </a:cubicBezTo>
                  <a:cubicBezTo>
                    <a:pt x="992002" y="309548"/>
                    <a:pt x="954106" y="325245"/>
                    <a:pt x="914590" y="325245"/>
                  </a:cubicBezTo>
                  <a:lnTo>
                    <a:pt x="148992" y="325245"/>
                  </a:lnTo>
                  <a:cubicBezTo>
                    <a:pt x="109477" y="325245"/>
                    <a:pt x="71580" y="309548"/>
                    <a:pt x="43639" y="281607"/>
                  </a:cubicBezTo>
                  <a:cubicBezTo>
                    <a:pt x="15697" y="253665"/>
                    <a:pt x="0" y="215768"/>
                    <a:pt x="0" y="176253"/>
                  </a:cubicBezTo>
                  <a:lnTo>
                    <a:pt x="0" y="148992"/>
                  </a:lnTo>
                  <a:cubicBezTo>
                    <a:pt x="0" y="109477"/>
                    <a:pt x="15697" y="71580"/>
                    <a:pt x="43639" y="43639"/>
                  </a:cubicBezTo>
                  <a:cubicBezTo>
                    <a:pt x="71580" y="15697"/>
                    <a:pt x="109477" y="0"/>
                    <a:pt x="1489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63583" cy="3633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586403" y="5987242"/>
            <a:ext cx="2606686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b="true" sz="2444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정보 연결</a:t>
            </a:r>
          </a:p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AutoShape 45" id="45"/>
          <p:cNvSpPr/>
          <p:nvPr/>
        </p:nvSpPr>
        <p:spPr>
          <a:xfrm>
            <a:off x="8162347" y="6561664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0736531" y="6452493"/>
            <a:ext cx="218342" cy="218342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464293" y="6581967"/>
            <a:ext cx="4850905" cy="77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거점과 실제 건물 주소를 연결</a:t>
            </a:r>
          </a:p>
          <a:p>
            <a:pPr algn="ctr">
              <a:lnSpc>
                <a:spcPts val="3002"/>
              </a:lnSpc>
              <a:spcBef>
                <a:spcPct val="0"/>
              </a:spcBef>
            </a:pPr>
          </a:p>
        </p:txBody>
      </p:sp>
      <p:grpSp>
        <p:nvGrpSpPr>
          <p:cNvPr name="Group 50" id="50"/>
          <p:cNvGrpSpPr/>
          <p:nvPr/>
        </p:nvGrpSpPr>
        <p:grpSpPr>
          <a:xfrm rot="0">
            <a:off x="10500875" y="8099766"/>
            <a:ext cx="5196183" cy="1589002"/>
            <a:chOff x="0" y="0"/>
            <a:chExt cx="1063583" cy="3252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3583" cy="325245"/>
            </a:xfrm>
            <a:custGeom>
              <a:avLst/>
              <a:gdLst/>
              <a:ahLst/>
              <a:cxnLst/>
              <a:rect r="r" b="b" t="t" l="l"/>
              <a:pathLst>
                <a:path h="325245" w="1063583">
                  <a:moveTo>
                    <a:pt x="148992" y="0"/>
                  </a:moveTo>
                  <a:lnTo>
                    <a:pt x="914590" y="0"/>
                  </a:lnTo>
                  <a:cubicBezTo>
                    <a:pt x="996877" y="0"/>
                    <a:pt x="1063583" y="66706"/>
                    <a:pt x="1063583" y="148992"/>
                  </a:cubicBezTo>
                  <a:lnTo>
                    <a:pt x="1063583" y="176253"/>
                  </a:lnTo>
                  <a:cubicBezTo>
                    <a:pt x="1063583" y="215768"/>
                    <a:pt x="1047885" y="253665"/>
                    <a:pt x="1019944" y="281607"/>
                  </a:cubicBezTo>
                  <a:cubicBezTo>
                    <a:pt x="992002" y="309548"/>
                    <a:pt x="954106" y="325245"/>
                    <a:pt x="914590" y="325245"/>
                  </a:cubicBezTo>
                  <a:lnTo>
                    <a:pt x="148992" y="325245"/>
                  </a:lnTo>
                  <a:cubicBezTo>
                    <a:pt x="109477" y="325245"/>
                    <a:pt x="71580" y="309548"/>
                    <a:pt x="43639" y="281607"/>
                  </a:cubicBezTo>
                  <a:cubicBezTo>
                    <a:pt x="15697" y="253665"/>
                    <a:pt x="0" y="215768"/>
                    <a:pt x="0" y="176253"/>
                  </a:cubicBezTo>
                  <a:lnTo>
                    <a:pt x="0" y="148992"/>
                  </a:lnTo>
                  <a:cubicBezTo>
                    <a:pt x="0" y="109477"/>
                    <a:pt x="15697" y="71580"/>
                    <a:pt x="43639" y="43639"/>
                  </a:cubicBezTo>
                  <a:cubicBezTo>
                    <a:pt x="71580" y="15697"/>
                    <a:pt x="109477" y="0"/>
                    <a:pt x="14899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63583" cy="3633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795623" y="8311320"/>
            <a:ext cx="2606686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b="true" sz="2444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배출 안내</a:t>
            </a:r>
          </a:p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AutoShape 54" id="54"/>
          <p:cNvSpPr/>
          <p:nvPr/>
        </p:nvSpPr>
        <p:spPr>
          <a:xfrm>
            <a:off x="7390313" y="8894267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9964497" y="8785096"/>
            <a:ext cx="218342" cy="218342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846153" y="8908739"/>
            <a:ext cx="4505627" cy="77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거점 정보와 배출 정보를 함께 확인</a:t>
            </a:r>
          </a:p>
          <a:p>
            <a:pPr algn="ctr">
              <a:lnSpc>
                <a:spcPts val="30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29538" y="-5504937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10892" y="-4034135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5" y="0"/>
                </a:lnTo>
                <a:lnTo>
                  <a:pt x="11375945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45666" y="-4488810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60072" y="4684877"/>
            <a:ext cx="5413942" cy="3541364"/>
            <a:chOff x="0" y="0"/>
            <a:chExt cx="1052050" cy="6881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2050" cy="688166"/>
            </a:xfrm>
            <a:custGeom>
              <a:avLst/>
              <a:gdLst/>
              <a:ahLst/>
              <a:cxnLst/>
              <a:rect r="r" b="b" t="t" l="l"/>
              <a:pathLst>
                <a:path h="688166" w="1052050">
                  <a:moveTo>
                    <a:pt x="71500" y="0"/>
                  </a:moveTo>
                  <a:lnTo>
                    <a:pt x="980551" y="0"/>
                  </a:lnTo>
                  <a:cubicBezTo>
                    <a:pt x="1020039" y="0"/>
                    <a:pt x="1052050" y="32012"/>
                    <a:pt x="1052050" y="71500"/>
                  </a:cubicBezTo>
                  <a:lnTo>
                    <a:pt x="1052050" y="616667"/>
                  </a:lnTo>
                  <a:cubicBezTo>
                    <a:pt x="1052050" y="656155"/>
                    <a:pt x="1020039" y="688166"/>
                    <a:pt x="980551" y="688166"/>
                  </a:cubicBezTo>
                  <a:lnTo>
                    <a:pt x="71500" y="688166"/>
                  </a:lnTo>
                  <a:cubicBezTo>
                    <a:pt x="32012" y="688166"/>
                    <a:pt x="0" y="656155"/>
                    <a:pt x="0" y="616667"/>
                  </a:cubicBezTo>
                  <a:lnTo>
                    <a:pt x="0" y="71500"/>
                  </a:lnTo>
                  <a:cubicBezTo>
                    <a:pt x="0" y="32012"/>
                    <a:pt x="32012" y="0"/>
                    <a:pt x="715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52050" cy="72626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3986" y="4684877"/>
            <a:ext cx="5413942" cy="3557295"/>
            <a:chOff x="0" y="0"/>
            <a:chExt cx="1052050" cy="6912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2050" cy="691262"/>
            </a:xfrm>
            <a:custGeom>
              <a:avLst/>
              <a:gdLst/>
              <a:ahLst/>
              <a:cxnLst/>
              <a:rect r="r" b="b" t="t" l="l"/>
              <a:pathLst>
                <a:path h="691262" w="1052050">
                  <a:moveTo>
                    <a:pt x="71500" y="0"/>
                  </a:moveTo>
                  <a:lnTo>
                    <a:pt x="980551" y="0"/>
                  </a:lnTo>
                  <a:cubicBezTo>
                    <a:pt x="1020039" y="0"/>
                    <a:pt x="1052050" y="32012"/>
                    <a:pt x="1052050" y="71500"/>
                  </a:cubicBezTo>
                  <a:lnTo>
                    <a:pt x="1052050" y="619762"/>
                  </a:lnTo>
                  <a:cubicBezTo>
                    <a:pt x="1052050" y="659251"/>
                    <a:pt x="1020039" y="691262"/>
                    <a:pt x="980551" y="691262"/>
                  </a:cubicBezTo>
                  <a:lnTo>
                    <a:pt x="71500" y="691262"/>
                  </a:lnTo>
                  <a:cubicBezTo>
                    <a:pt x="32012" y="691262"/>
                    <a:pt x="0" y="659251"/>
                    <a:pt x="0" y="619762"/>
                  </a:cubicBezTo>
                  <a:lnTo>
                    <a:pt x="0" y="71500"/>
                  </a:lnTo>
                  <a:cubicBezTo>
                    <a:pt x="0" y="32012"/>
                    <a:pt x="32012" y="0"/>
                    <a:pt x="715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52050" cy="72936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35438" y="2895753"/>
            <a:ext cx="5413942" cy="3551962"/>
            <a:chOff x="0" y="0"/>
            <a:chExt cx="1052050" cy="6902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2050" cy="690226"/>
            </a:xfrm>
            <a:custGeom>
              <a:avLst/>
              <a:gdLst/>
              <a:ahLst/>
              <a:cxnLst/>
              <a:rect r="r" b="b" t="t" l="l"/>
              <a:pathLst>
                <a:path h="690226" w="1052050">
                  <a:moveTo>
                    <a:pt x="71500" y="0"/>
                  </a:moveTo>
                  <a:lnTo>
                    <a:pt x="980551" y="0"/>
                  </a:lnTo>
                  <a:cubicBezTo>
                    <a:pt x="1020039" y="0"/>
                    <a:pt x="1052050" y="32012"/>
                    <a:pt x="1052050" y="71500"/>
                  </a:cubicBezTo>
                  <a:lnTo>
                    <a:pt x="1052050" y="618726"/>
                  </a:lnTo>
                  <a:cubicBezTo>
                    <a:pt x="1052050" y="658214"/>
                    <a:pt x="1020039" y="690226"/>
                    <a:pt x="980551" y="690226"/>
                  </a:cubicBezTo>
                  <a:lnTo>
                    <a:pt x="71500" y="690226"/>
                  </a:lnTo>
                  <a:cubicBezTo>
                    <a:pt x="32012" y="690226"/>
                    <a:pt x="0" y="658214"/>
                    <a:pt x="0" y="618726"/>
                  </a:cubicBezTo>
                  <a:lnTo>
                    <a:pt x="0" y="71500"/>
                  </a:lnTo>
                  <a:cubicBezTo>
                    <a:pt x="0" y="32012"/>
                    <a:pt x="32012" y="0"/>
                    <a:pt x="71500" y="0"/>
                  </a:cubicBezTo>
                  <a:close/>
                </a:path>
              </a:pathLst>
            </a:custGeom>
            <a:solidFill>
              <a:srgbClr val="5FA24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52050" cy="72832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079490" y="5204105"/>
            <a:ext cx="882934" cy="785811"/>
          </a:xfrm>
          <a:custGeom>
            <a:avLst/>
            <a:gdLst/>
            <a:ahLst/>
            <a:cxnLst/>
            <a:rect r="r" b="b" t="t" l="l"/>
            <a:pathLst>
              <a:path h="785811" w="882934">
                <a:moveTo>
                  <a:pt x="0" y="0"/>
                </a:moveTo>
                <a:lnTo>
                  <a:pt x="882934" y="0"/>
                </a:lnTo>
                <a:lnTo>
                  <a:pt x="882934" y="785812"/>
                </a:lnTo>
                <a:lnTo>
                  <a:pt x="0" y="785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919390" y="3123037"/>
            <a:ext cx="620297" cy="1008612"/>
          </a:xfrm>
          <a:custGeom>
            <a:avLst/>
            <a:gdLst/>
            <a:ahLst/>
            <a:cxnLst/>
            <a:rect r="r" b="b" t="t" l="l"/>
            <a:pathLst>
              <a:path h="1008612" w="620297">
                <a:moveTo>
                  <a:pt x="0" y="0"/>
                </a:moveTo>
                <a:lnTo>
                  <a:pt x="620296" y="0"/>
                </a:lnTo>
                <a:lnTo>
                  <a:pt x="620296" y="1008612"/>
                </a:lnTo>
                <a:lnTo>
                  <a:pt x="0" y="10086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187832" y="5077068"/>
            <a:ext cx="1158423" cy="990452"/>
          </a:xfrm>
          <a:custGeom>
            <a:avLst/>
            <a:gdLst/>
            <a:ahLst/>
            <a:cxnLst/>
            <a:rect r="r" b="b" t="t" l="l"/>
            <a:pathLst>
              <a:path h="990452" w="1158423">
                <a:moveTo>
                  <a:pt x="0" y="0"/>
                </a:moveTo>
                <a:lnTo>
                  <a:pt x="1158423" y="0"/>
                </a:lnTo>
                <a:lnTo>
                  <a:pt x="1158423" y="990452"/>
                </a:lnTo>
                <a:lnTo>
                  <a:pt x="0" y="9904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35713" y="1169498"/>
            <a:ext cx="10174462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프로젝트 목표: 데이터 기반 배출 거점 제안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95131" y="6228042"/>
            <a:ext cx="2338448" cy="45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b="true" sz="2575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공공 데이터 융합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4930" y="6934702"/>
            <a:ext cx="4340040" cy="7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063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신월 1동의 건물 데이터, 배출 수요, 도로 구조 및 후보지 공간 자료 동향 DB 구축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16245" y="4318451"/>
            <a:ext cx="2826586" cy="45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b="true" sz="25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주소 기반 거점 조회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40200" y="5019918"/>
            <a:ext cx="4178676" cy="7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0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사용자가 검색한 주소 주변의 배출 거점을 지도상에 직관적으로 시각화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78569" y="6200954"/>
            <a:ext cx="2338448" cy="45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b="true" sz="2575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스마트 도시재생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08290" y="6934702"/>
            <a:ext cx="4279006" cy="7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063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지자체 행정 담당자의 배출 거점 지정 및 주민 청결 인프라 관리 효율성 극대화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C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72151" y="4981575"/>
            <a:ext cx="8543698" cy="104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  <a:spcBef>
                <a:spcPct val="0"/>
              </a:spcBef>
            </a:pPr>
            <a:r>
              <a:rPr lang="en-US" b="true" sz="5829">
                <a:solidFill>
                  <a:srgbClr val="1F4210"/>
                </a:solidFill>
                <a:latin typeface="Poppins Bold"/>
                <a:ea typeface="Poppins Bold"/>
                <a:cs typeface="Poppins Bold"/>
                <a:sym typeface="Poppins Bold"/>
              </a:rPr>
              <a:t>타깃 사용자 및 서비스 정의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55784" y="4101173"/>
            <a:ext cx="1976431" cy="626546"/>
            <a:chOff x="0" y="0"/>
            <a:chExt cx="359668" cy="1140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9668" cy="114018"/>
            </a:xfrm>
            <a:custGeom>
              <a:avLst/>
              <a:gdLst/>
              <a:ahLst/>
              <a:cxnLst/>
              <a:rect r="r" b="b" t="t" l="l"/>
              <a:pathLst>
                <a:path h="114018" w="359668">
                  <a:moveTo>
                    <a:pt x="57009" y="0"/>
                  </a:moveTo>
                  <a:lnTo>
                    <a:pt x="302659" y="0"/>
                  </a:lnTo>
                  <a:cubicBezTo>
                    <a:pt x="334145" y="0"/>
                    <a:pt x="359668" y="25524"/>
                    <a:pt x="359668" y="57009"/>
                  </a:cubicBezTo>
                  <a:lnTo>
                    <a:pt x="359668" y="57009"/>
                  </a:lnTo>
                  <a:cubicBezTo>
                    <a:pt x="359668" y="72129"/>
                    <a:pt x="353662" y="86629"/>
                    <a:pt x="342971" y="97321"/>
                  </a:cubicBezTo>
                  <a:cubicBezTo>
                    <a:pt x="332279" y="108012"/>
                    <a:pt x="317779" y="114018"/>
                    <a:pt x="302659" y="114018"/>
                  </a:cubicBezTo>
                  <a:lnTo>
                    <a:pt x="57009" y="114018"/>
                  </a:lnTo>
                  <a:cubicBezTo>
                    <a:pt x="25524" y="114018"/>
                    <a:pt x="0" y="88494"/>
                    <a:pt x="0" y="57009"/>
                  </a:cubicBezTo>
                  <a:lnTo>
                    <a:pt x="0" y="57009"/>
                  </a:lnTo>
                  <a:cubicBezTo>
                    <a:pt x="0" y="25524"/>
                    <a:pt x="25524" y="0"/>
                    <a:pt x="57009" y="0"/>
                  </a:cubicBezTo>
                  <a:close/>
                </a:path>
              </a:pathLst>
            </a:custGeom>
            <a:solidFill>
              <a:srgbClr val="ECF4E3"/>
            </a:solidFill>
            <a:ln w="19050" cap="rnd">
              <a:solidFill>
                <a:srgbClr val="4F823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9668" cy="15211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18006" y="4182949"/>
            <a:ext cx="1851988" cy="40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CHAPTER 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29538" y="-5504937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10892" y="-4034135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5" y="0"/>
                </a:lnTo>
                <a:lnTo>
                  <a:pt x="11375945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45666" y="-4488810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805392" y="3184851"/>
            <a:ext cx="6018792" cy="6073449"/>
            <a:chOff x="0" y="0"/>
            <a:chExt cx="1169586" cy="11802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9586" cy="1180207"/>
            </a:xfrm>
            <a:custGeom>
              <a:avLst/>
              <a:gdLst/>
              <a:ahLst/>
              <a:cxnLst/>
              <a:rect r="r" b="b" t="t" l="l"/>
              <a:pathLst>
                <a:path h="1180207" w="1169586">
                  <a:moveTo>
                    <a:pt x="64315" y="0"/>
                  </a:moveTo>
                  <a:lnTo>
                    <a:pt x="1105272" y="0"/>
                  </a:lnTo>
                  <a:cubicBezTo>
                    <a:pt x="1122329" y="0"/>
                    <a:pt x="1138688" y="6776"/>
                    <a:pt x="1150749" y="18837"/>
                  </a:cubicBezTo>
                  <a:cubicBezTo>
                    <a:pt x="1162810" y="30899"/>
                    <a:pt x="1169586" y="47257"/>
                    <a:pt x="1169586" y="64315"/>
                  </a:cubicBezTo>
                  <a:lnTo>
                    <a:pt x="1169586" y="1115893"/>
                  </a:lnTo>
                  <a:cubicBezTo>
                    <a:pt x="1169586" y="1132950"/>
                    <a:pt x="1162810" y="1149309"/>
                    <a:pt x="1150749" y="1161370"/>
                  </a:cubicBezTo>
                  <a:cubicBezTo>
                    <a:pt x="1138688" y="1173431"/>
                    <a:pt x="1122329" y="1180207"/>
                    <a:pt x="1105272" y="1180207"/>
                  </a:cubicBezTo>
                  <a:lnTo>
                    <a:pt x="64315" y="1180207"/>
                  </a:lnTo>
                  <a:cubicBezTo>
                    <a:pt x="47257" y="1180207"/>
                    <a:pt x="30899" y="1173431"/>
                    <a:pt x="18837" y="1161370"/>
                  </a:cubicBezTo>
                  <a:cubicBezTo>
                    <a:pt x="6776" y="1149309"/>
                    <a:pt x="0" y="1132950"/>
                    <a:pt x="0" y="1115893"/>
                  </a:cubicBezTo>
                  <a:lnTo>
                    <a:pt x="0" y="64315"/>
                  </a:lnTo>
                  <a:cubicBezTo>
                    <a:pt x="0" y="47257"/>
                    <a:pt x="6776" y="30899"/>
                    <a:pt x="18837" y="18837"/>
                  </a:cubicBezTo>
                  <a:cubicBezTo>
                    <a:pt x="30899" y="6776"/>
                    <a:pt x="47257" y="0"/>
                    <a:pt x="64315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69586" cy="12183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142307" y="1441031"/>
            <a:ext cx="10174462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타깃 사용자별 맞춤형 문제 해결잭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70192" y="4502387"/>
            <a:ext cx="3808604" cy="64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1"/>
              </a:lnSpc>
              <a:spcBef>
                <a:spcPct val="0"/>
              </a:spcBef>
            </a:pPr>
            <a:r>
              <a:rPr lang="en-US" b="true" sz="3572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신월 1동 지역 주민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70192" y="5503854"/>
            <a:ext cx="5014589" cy="27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053" indent="-279027" lvl="1">
              <a:lnSpc>
                <a:spcPts val="3618"/>
              </a:lnSpc>
              <a:buFont typeface="Arial"/>
              <a:buChar char="•"/>
            </a:pPr>
            <a:r>
              <a:rPr lang="en-US" sz="2584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올바른 배출 위치 파악</a:t>
            </a:r>
          </a:p>
          <a:p>
            <a:pPr algn="l" marL="900212" indent="-300071" lvl="2">
              <a:lnSpc>
                <a:spcPts val="2918"/>
              </a:lnSpc>
              <a:buFont typeface="Arial"/>
              <a:buChar char="⚬"/>
            </a:pPr>
            <a:r>
              <a:rPr lang="en-US" sz="2084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주소 검색으로 인근 수거 거점을      즉시 확인</a:t>
            </a:r>
          </a:p>
          <a:p>
            <a:pPr algn="l">
              <a:lnSpc>
                <a:spcPts val="3338"/>
              </a:lnSpc>
            </a:pPr>
          </a:p>
          <a:p>
            <a:pPr algn="l" marL="558053" indent="-279027" lvl="1">
              <a:lnSpc>
                <a:spcPts val="3618"/>
              </a:lnSpc>
              <a:buFont typeface="Arial"/>
              <a:buChar char="•"/>
            </a:pPr>
            <a:r>
              <a:rPr lang="en-US" sz="2584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쾌적한 주거 환경 조성</a:t>
            </a:r>
          </a:p>
          <a:p>
            <a:pPr algn="l" marL="900212" indent="-300071" lvl="2">
              <a:lnSpc>
                <a:spcPts val="2918"/>
              </a:lnSpc>
              <a:spcBef>
                <a:spcPct val="0"/>
              </a:spcBef>
              <a:buFont typeface="Arial"/>
              <a:buChar char="⚬"/>
            </a:pPr>
            <a:r>
              <a:rPr lang="en-US" sz="2084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무단투기 예방 및 골목길 정비          효과 경험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23658" y="3117515"/>
            <a:ext cx="6018792" cy="6073449"/>
            <a:chOff x="0" y="0"/>
            <a:chExt cx="1169586" cy="11802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9586" cy="1180207"/>
            </a:xfrm>
            <a:custGeom>
              <a:avLst/>
              <a:gdLst/>
              <a:ahLst/>
              <a:cxnLst/>
              <a:rect r="r" b="b" t="t" l="l"/>
              <a:pathLst>
                <a:path h="1180207" w="1169586">
                  <a:moveTo>
                    <a:pt x="64315" y="0"/>
                  </a:moveTo>
                  <a:lnTo>
                    <a:pt x="1105272" y="0"/>
                  </a:lnTo>
                  <a:cubicBezTo>
                    <a:pt x="1122329" y="0"/>
                    <a:pt x="1138688" y="6776"/>
                    <a:pt x="1150749" y="18837"/>
                  </a:cubicBezTo>
                  <a:cubicBezTo>
                    <a:pt x="1162810" y="30899"/>
                    <a:pt x="1169586" y="47257"/>
                    <a:pt x="1169586" y="64315"/>
                  </a:cubicBezTo>
                  <a:lnTo>
                    <a:pt x="1169586" y="1115893"/>
                  </a:lnTo>
                  <a:cubicBezTo>
                    <a:pt x="1169586" y="1132950"/>
                    <a:pt x="1162810" y="1149309"/>
                    <a:pt x="1150749" y="1161370"/>
                  </a:cubicBezTo>
                  <a:cubicBezTo>
                    <a:pt x="1138688" y="1173431"/>
                    <a:pt x="1122329" y="1180207"/>
                    <a:pt x="1105272" y="1180207"/>
                  </a:cubicBezTo>
                  <a:lnTo>
                    <a:pt x="64315" y="1180207"/>
                  </a:lnTo>
                  <a:cubicBezTo>
                    <a:pt x="47257" y="1180207"/>
                    <a:pt x="30899" y="1173431"/>
                    <a:pt x="18837" y="1161370"/>
                  </a:cubicBezTo>
                  <a:cubicBezTo>
                    <a:pt x="6776" y="1149309"/>
                    <a:pt x="0" y="1132950"/>
                    <a:pt x="0" y="1115893"/>
                  </a:cubicBezTo>
                  <a:lnTo>
                    <a:pt x="0" y="64315"/>
                  </a:lnTo>
                  <a:cubicBezTo>
                    <a:pt x="0" y="47257"/>
                    <a:pt x="6776" y="30899"/>
                    <a:pt x="18837" y="18837"/>
                  </a:cubicBezTo>
                  <a:cubicBezTo>
                    <a:pt x="30899" y="6776"/>
                    <a:pt x="47257" y="0"/>
                    <a:pt x="64315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69586" cy="12183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270192" y="3467841"/>
            <a:ext cx="2338448" cy="37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  <a:spcBef>
                <a:spcPct val="0"/>
              </a:spcBef>
            </a:pPr>
            <a:r>
              <a:rPr lang="en-US" b="true" sz="2075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USER TYPE 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35196" y="4502387"/>
            <a:ext cx="4918368" cy="64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1"/>
              </a:lnSpc>
              <a:spcBef>
                <a:spcPct val="0"/>
              </a:spcBef>
            </a:pPr>
            <a:r>
              <a:rPr lang="en-US" b="true" sz="3572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지자체 &amp; 도시재생 담당자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35196" y="5511176"/>
            <a:ext cx="4938565" cy="277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247" indent="-275124" lvl="1">
              <a:lnSpc>
                <a:spcPts val="3568"/>
              </a:lnSpc>
              <a:buFont typeface="Arial"/>
              <a:buChar char="•"/>
            </a:pPr>
            <a:r>
              <a:rPr lang="en-US" sz="2548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객관적 입지 결정</a:t>
            </a:r>
          </a:p>
          <a:p>
            <a:pPr algn="l" marL="884600" indent="-294867" lvl="2">
              <a:lnSpc>
                <a:spcPts val="2868"/>
              </a:lnSpc>
              <a:buFont typeface="Arial"/>
              <a:buChar char="⚬"/>
            </a:pPr>
            <a:r>
              <a:rPr lang="en-US" sz="2048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데이터 기반 배출 거점 적합도 분석 알고리즘 활용</a:t>
            </a:r>
          </a:p>
          <a:p>
            <a:pPr algn="l">
              <a:lnSpc>
                <a:spcPts val="3288"/>
              </a:lnSpc>
            </a:pPr>
          </a:p>
          <a:p>
            <a:pPr algn="l" marL="550247" indent="-275124" lvl="1">
              <a:lnSpc>
                <a:spcPts val="3568"/>
              </a:lnSpc>
              <a:buFont typeface="Arial"/>
              <a:buChar char="•"/>
            </a:pPr>
            <a:r>
              <a:rPr lang="en-US" sz="2548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행정 효율 향상</a:t>
            </a:r>
          </a:p>
          <a:p>
            <a:pPr algn="l" marL="884600" indent="-294867" lvl="2">
              <a:lnSpc>
                <a:spcPts val="2868"/>
              </a:lnSpc>
              <a:spcBef>
                <a:spcPct val="0"/>
              </a:spcBef>
              <a:buFont typeface="Arial"/>
              <a:buChar char="⚬"/>
            </a:pPr>
            <a:r>
              <a:rPr lang="en-US" sz="2048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민원 대응 시간 단축 및 수거 동선 최적화 자원 할당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35196" y="3467841"/>
            <a:ext cx="2338448" cy="37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  <a:spcBef>
                <a:spcPct val="0"/>
              </a:spcBef>
            </a:pPr>
            <a:r>
              <a:rPr lang="en-US" b="true" sz="2075">
                <a:solidFill>
                  <a:srgbClr val="4F823A"/>
                </a:solidFill>
                <a:latin typeface="Poppins Bold"/>
                <a:ea typeface="Poppins Bold"/>
                <a:cs typeface="Poppins Bold"/>
                <a:sym typeface="Poppins Bold"/>
              </a:rPr>
              <a:t>USER TYPE 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C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72151" y="4981575"/>
            <a:ext cx="8543698" cy="104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  <a:spcBef>
                <a:spcPct val="0"/>
              </a:spcBef>
            </a:pPr>
            <a:r>
              <a:rPr lang="en-US" b="true" sz="5829">
                <a:solidFill>
                  <a:srgbClr val="1F4210"/>
                </a:solidFill>
                <a:latin typeface="Poppins Bold"/>
                <a:ea typeface="Poppins Bold"/>
                <a:cs typeface="Poppins Bold"/>
                <a:sym typeface="Poppins Bold"/>
              </a:rPr>
              <a:t>시스템 구조 및 데이터 설계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55784" y="4101173"/>
            <a:ext cx="1976431" cy="626546"/>
            <a:chOff x="0" y="0"/>
            <a:chExt cx="359668" cy="1140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9668" cy="114018"/>
            </a:xfrm>
            <a:custGeom>
              <a:avLst/>
              <a:gdLst/>
              <a:ahLst/>
              <a:cxnLst/>
              <a:rect r="r" b="b" t="t" l="l"/>
              <a:pathLst>
                <a:path h="114018" w="359668">
                  <a:moveTo>
                    <a:pt x="57009" y="0"/>
                  </a:moveTo>
                  <a:lnTo>
                    <a:pt x="302659" y="0"/>
                  </a:lnTo>
                  <a:cubicBezTo>
                    <a:pt x="334145" y="0"/>
                    <a:pt x="359668" y="25524"/>
                    <a:pt x="359668" y="57009"/>
                  </a:cubicBezTo>
                  <a:lnTo>
                    <a:pt x="359668" y="57009"/>
                  </a:lnTo>
                  <a:cubicBezTo>
                    <a:pt x="359668" y="72129"/>
                    <a:pt x="353662" y="86629"/>
                    <a:pt x="342971" y="97321"/>
                  </a:cubicBezTo>
                  <a:cubicBezTo>
                    <a:pt x="332279" y="108012"/>
                    <a:pt x="317779" y="114018"/>
                    <a:pt x="302659" y="114018"/>
                  </a:cubicBezTo>
                  <a:lnTo>
                    <a:pt x="57009" y="114018"/>
                  </a:lnTo>
                  <a:cubicBezTo>
                    <a:pt x="25524" y="114018"/>
                    <a:pt x="0" y="88494"/>
                    <a:pt x="0" y="57009"/>
                  </a:cubicBezTo>
                  <a:lnTo>
                    <a:pt x="0" y="57009"/>
                  </a:lnTo>
                  <a:cubicBezTo>
                    <a:pt x="0" y="25524"/>
                    <a:pt x="25524" y="0"/>
                    <a:pt x="57009" y="0"/>
                  </a:cubicBezTo>
                  <a:close/>
                </a:path>
              </a:pathLst>
            </a:custGeom>
            <a:solidFill>
              <a:srgbClr val="ECF4E3"/>
            </a:solidFill>
            <a:ln w="19050" cap="rnd">
              <a:solidFill>
                <a:srgbClr val="4F823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9668" cy="15211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18006" y="4182949"/>
            <a:ext cx="1851988" cy="40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CHAPTER 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48908" y="3310316"/>
            <a:ext cx="16990185" cy="5500572"/>
          </a:xfrm>
          <a:custGeom>
            <a:avLst/>
            <a:gdLst/>
            <a:ahLst/>
            <a:cxnLst/>
            <a:rect r="r" b="b" t="t" l="l"/>
            <a:pathLst>
              <a:path h="5500572" w="16990185">
                <a:moveTo>
                  <a:pt x="0" y="0"/>
                </a:moveTo>
                <a:lnTo>
                  <a:pt x="16990184" y="0"/>
                </a:lnTo>
                <a:lnTo>
                  <a:pt x="16990184" y="5500573"/>
                </a:lnTo>
                <a:lnTo>
                  <a:pt x="0" y="550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19375" y="2877910"/>
            <a:ext cx="17211814" cy="7183598"/>
          </a:xfrm>
          <a:custGeom>
            <a:avLst/>
            <a:gdLst/>
            <a:ahLst/>
            <a:cxnLst/>
            <a:rect r="r" b="b" t="t" l="l"/>
            <a:pathLst>
              <a:path h="7183598" w="17211814">
                <a:moveTo>
                  <a:pt x="0" y="0"/>
                </a:moveTo>
                <a:lnTo>
                  <a:pt x="17211814" y="0"/>
                </a:lnTo>
                <a:lnTo>
                  <a:pt x="17211814" y="7183598"/>
                </a:lnTo>
                <a:lnTo>
                  <a:pt x="0" y="7183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8971" b="-4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46047" y="1451934"/>
            <a:ext cx="759590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데이터 수집 &amp; 전처리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35270" y="2335895"/>
            <a:ext cx="11380024" cy="4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5"/>
              </a:lnSpc>
              <a:spcBef>
                <a:spcPct val="0"/>
              </a:spcBef>
            </a:pPr>
            <a:r>
              <a:rPr lang="en-US" sz="26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신월 1동 건물 데이터, 도로 폭, 배출 수요, 후보지 데이터 정제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7450" y="1228142"/>
            <a:ext cx="8436550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신월 1동 생활권 분석 및 거점 배치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9898" y="3240398"/>
            <a:ext cx="3889487" cy="113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  <a:spcBef>
                <a:spcPct val="0"/>
              </a:spcBef>
            </a:pPr>
            <a:r>
              <a:rPr lang="en-US" b="true" sz="6274">
                <a:solidFill>
                  <a:srgbClr val="496B3B"/>
                </a:solidFill>
                <a:latin typeface="Poppins Bold"/>
                <a:ea typeface="Poppins Bold"/>
                <a:cs typeface="Poppins Bold"/>
                <a:sym typeface="Poppins Bold"/>
              </a:rPr>
              <a:t>1,639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9898" y="4529260"/>
            <a:ext cx="2265587" cy="131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총 건물 노드 수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신월 1동 전체 세대를 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건물 기준 노드로 나타냄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2433" y="3240398"/>
            <a:ext cx="2428694" cy="113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  <a:spcBef>
                <a:spcPct val="0"/>
              </a:spcBef>
            </a:pPr>
            <a:r>
              <a:rPr lang="en-US" b="true" sz="6274">
                <a:solidFill>
                  <a:srgbClr val="496B3B"/>
                </a:solidFill>
                <a:latin typeface="Poppins Bold"/>
                <a:ea typeface="Poppins Bold"/>
                <a:cs typeface="Poppins Bold"/>
                <a:sym typeface="Poppins Bold"/>
              </a:rPr>
              <a:t>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61885" y="4529260"/>
            <a:ext cx="2428694" cy="175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주민 생활권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직선 거리 + 보행 거리 +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세대 수를 모두 반영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210427" y="3240398"/>
            <a:ext cx="2428694" cy="113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  <a:spcBef>
                <a:spcPct val="0"/>
              </a:spcBef>
            </a:pPr>
            <a:r>
              <a:rPr lang="en-US" b="true" sz="6274">
                <a:solidFill>
                  <a:srgbClr val="496B3B"/>
                </a:solidFill>
                <a:latin typeface="Poppins Bold"/>
                <a:ea typeface="Poppins Bold"/>
                <a:cs typeface="Poppins Bold"/>
                <a:sym typeface="Poppins Bold"/>
              </a:rPr>
              <a:t>6 + 3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10427" y="4529260"/>
            <a:ext cx="2428694" cy="131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거점 수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6개 기준 고려해 생활권 내 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6개 거점 마련 + 3개 대안 추가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29070" y="3240398"/>
            <a:ext cx="2428694" cy="113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  <a:spcBef>
                <a:spcPct val="0"/>
              </a:spcBef>
            </a:pPr>
            <a:r>
              <a:rPr lang="en-US" b="true" sz="6274">
                <a:solidFill>
                  <a:srgbClr val="496B3B"/>
                </a:solidFill>
                <a:latin typeface="Poppins Bold"/>
                <a:ea typeface="Poppins Bold"/>
                <a:cs typeface="Poppins Bold"/>
                <a:sym typeface="Poppins Bold"/>
              </a:rPr>
              <a:t>200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29070" y="4529260"/>
            <a:ext cx="3059032" cy="131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주민 보행거리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노드~거점 간 주민 평균 보행거리 195.2m로 </a:t>
            </a:r>
            <a:r>
              <a:rPr lang="en-US" sz="150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주민 편의성 보장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99898" y="6538047"/>
            <a:ext cx="4903411" cy="2207952"/>
            <a:chOff x="0" y="0"/>
            <a:chExt cx="893360" cy="4023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893360">
                  <a:moveTo>
                    <a:pt x="893360" y="23683"/>
                  </a:moveTo>
                  <a:lnTo>
                    <a:pt x="893360" y="378653"/>
                  </a:lnTo>
                  <a:cubicBezTo>
                    <a:pt x="893360" y="384934"/>
                    <a:pt x="890865" y="390958"/>
                    <a:pt x="886424" y="395399"/>
                  </a:cubicBezTo>
                  <a:cubicBezTo>
                    <a:pt x="881982" y="399841"/>
                    <a:pt x="875958" y="402336"/>
                    <a:pt x="869677" y="402336"/>
                  </a:cubicBezTo>
                  <a:lnTo>
                    <a:pt x="23683" y="402336"/>
                  </a:lnTo>
                  <a:cubicBezTo>
                    <a:pt x="10603" y="402336"/>
                    <a:pt x="0" y="391733"/>
                    <a:pt x="0" y="378653"/>
                  </a:cubicBezTo>
                  <a:lnTo>
                    <a:pt x="0" y="23683"/>
                  </a:lnTo>
                  <a:cubicBezTo>
                    <a:pt x="0" y="10603"/>
                    <a:pt x="10603" y="0"/>
                    <a:pt x="23683" y="0"/>
                  </a:cubicBezTo>
                  <a:lnTo>
                    <a:pt x="869677" y="0"/>
                  </a:lnTo>
                  <a:cubicBezTo>
                    <a:pt x="882757" y="0"/>
                    <a:pt x="893360" y="10603"/>
                    <a:pt x="893360" y="23683"/>
                  </a:cubicBez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30542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93360" cy="44043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92295" y="6538047"/>
            <a:ext cx="4903411" cy="2207952"/>
            <a:chOff x="0" y="0"/>
            <a:chExt cx="89336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893360">
                  <a:moveTo>
                    <a:pt x="893360" y="23683"/>
                  </a:moveTo>
                  <a:lnTo>
                    <a:pt x="893360" y="378653"/>
                  </a:lnTo>
                  <a:cubicBezTo>
                    <a:pt x="893360" y="384934"/>
                    <a:pt x="890865" y="390958"/>
                    <a:pt x="886424" y="395399"/>
                  </a:cubicBezTo>
                  <a:cubicBezTo>
                    <a:pt x="881982" y="399841"/>
                    <a:pt x="875958" y="402336"/>
                    <a:pt x="869677" y="402336"/>
                  </a:cubicBezTo>
                  <a:lnTo>
                    <a:pt x="23683" y="402336"/>
                  </a:lnTo>
                  <a:cubicBezTo>
                    <a:pt x="10603" y="402336"/>
                    <a:pt x="0" y="391733"/>
                    <a:pt x="0" y="378653"/>
                  </a:cubicBezTo>
                  <a:lnTo>
                    <a:pt x="0" y="23683"/>
                  </a:lnTo>
                  <a:cubicBezTo>
                    <a:pt x="0" y="10603"/>
                    <a:pt x="10603" y="0"/>
                    <a:pt x="23683" y="0"/>
                  </a:cubicBezTo>
                  <a:lnTo>
                    <a:pt x="869677" y="0"/>
                  </a:lnTo>
                  <a:cubicBezTo>
                    <a:pt x="882757" y="0"/>
                    <a:pt x="893360" y="10603"/>
                    <a:pt x="893360" y="23683"/>
                  </a:cubicBez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30542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93360" cy="44043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15892" y="6538047"/>
            <a:ext cx="4903411" cy="2207952"/>
            <a:chOff x="0" y="0"/>
            <a:chExt cx="893360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893360">
                  <a:moveTo>
                    <a:pt x="893360" y="23683"/>
                  </a:moveTo>
                  <a:lnTo>
                    <a:pt x="893360" y="378653"/>
                  </a:lnTo>
                  <a:cubicBezTo>
                    <a:pt x="893360" y="384934"/>
                    <a:pt x="890865" y="390958"/>
                    <a:pt x="886424" y="395399"/>
                  </a:cubicBezTo>
                  <a:cubicBezTo>
                    <a:pt x="881982" y="399841"/>
                    <a:pt x="875958" y="402336"/>
                    <a:pt x="869677" y="402336"/>
                  </a:cubicBezTo>
                  <a:lnTo>
                    <a:pt x="23683" y="402336"/>
                  </a:lnTo>
                  <a:cubicBezTo>
                    <a:pt x="10603" y="402336"/>
                    <a:pt x="0" y="391733"/>
                    <a:pt x="0" y="378653"/>
                  </a:cubicBezTo>
                  <a:lnTo>
                    <a:pt x="0" y="23683"/>
                  </a:lnTo>
                  <a:cubicBezTo>
                    <a:pt x="0" y="10603"/>
                    <a:pt x="10603" y="0"/>
                    <a:pt x="23683" y="0"/>
                  </a:cubicBezTo>
                  <a:lnTo>
                    <a:pt x="869677" y="0"/>
                  </a:lnTo>
                  <a:cubicBezTo>
                    <a:pt x="882757" y="0"/>
                    <a:pt x="893360" y="10603"/>
                    <a:pt x="893360" y="23683"/>
                  </a:cubicBez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3054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93360" cy="44043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11529" y="6764543"/>
            <a:ext cx="2265587" cy="50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  <a:spcBef>
                <a:spcPct val="0"/>
              </a:spcBef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공간 자료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11529" y="7518198"/>
            <a:ext cx="2898568" cy="135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건축물·지번 연결</a:t>
            </a: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도로구간·보호시설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6976232" y="6764543"/>
            <a:ext cx="3551464" cy="50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  <a:spcBef>
                <a:spcPct val="0"/>
              </a:spcBef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세대권 분석 산출물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76232" y="7518198"/>
            <a:ext cx="3711856" cy="135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Kmeans+Network x로</a:t>
            </a: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주민 생활권 우선 구분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2271980" y="6764543"/>
            <a:ext cx="2265587" cy="50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  <a:spcBef>
                <a:spcPct val="0"/>
              </a:spcBef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공식 안내 자료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71980" y="7518198"/>
            <a:ext cx="2898568" cy="135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91품목 · 163별칭</a:t>
            </a: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268규칙 · 문서 발췌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768387" y="9139078"/>
            <a:ext cx="13341250" cy="72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A42A2A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r>
              <a:rPr lang="en-US" sz="2060">
                <a:solidFill>
                  <a:srgbClr val="A42A2A"/>
                </a:solidFill>
                <a:latin typeface="Poppins"/>
                <a:ea typeface="Poppins"/>
                <a:cs typeface="Poppins"/>
                <a:sym typeface="Poppins"/>
              </a:rPr>
              <a:t>전체 원천 SHP와 중간 거리행렬은 미수신입니다. 보유 도로 162구간과 팀 결과를 활용합니다.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786987" y="7621289"/>
            <a:ext cx="2692171" cy="773283"/>
          </a:xfrm>
          <a:custGeom>
            <a:avLst/>
            <a:gdLst/>
            <a:ahLst/>
            <a:cxnLst/>
            <a:rect r="r" b="b" t="t" l="l"/>
            <a:pathLst>
              <a:path h="773283" w="2692171">
                <a:moveTo>
                  <a:pt x="0" y="0"/>
                </a:moveTo>
                <a:lnTo>
                  <a:pt x="2692171" y="0"/>
                </a:lnTo>
                <a:lnTo>
                  <a:pt x="2692171" y="773283"/>
                </a:lnTo>
                <a:lnTo>
                  <a:pt x="0" y="773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85468" y="7621289"/>
            <a:ext cx="2692171" cy="773283"/>
          </a:xfrm>
          <a:custGeom>
            <a:avLst/>
            <a:gdLst/>
            <a:ahLst/>
            <a:cxnLst/>
            <a:rect r="r" b="b" t="t" l="l"/>
            <a:pathLst>
              <a:path h="773283" w="2692171">
                <a:moveTo>
                  <a:pt x="0" y="0"/>
                </a:moveTo>
                <a:lnTo>
                  <a:pt x="2692171" y="0"/>
                </a:lnTo>
                <a:lnTo>
                  <a:pt x="2692171" y="773283"/>
                </a:lnTo>
                <a:lnTo>
                  <a:pt x="0" y="773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54289" y="7621289"/>
            <a:ext cx="2692171" cy="494073"/>
          </a:xfrm>
          <a:custGeom>
            <a:avLst/>
            <a:gdLst/>
            <a:ahLst/>
            <a:cxnLst/>
            <a:rect r="r" b="b" t="t" l="l"/>
            <a:pathLst>
              <a:path h="494073" w="2692171">
                <a:moveTo>
                  <a:pt x="0" y="0"/>
                </a:moveTo>
                <a:lnTo>
                  <a:pt x="2692172" y="0"/>
                </a:lnTo>
                <a:lnTo>
                  <a:pt x="2692172" y="494072"/>
                </a:lnTo>
                <a:lnTo>
                  <a:pt x="0" y="494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651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78329" y="8749589"/>
            <a:ext cx="16414787" cy="815978"/>
            <a:chOff x="0" y="0"/>
            <a:chExt cx="4323236" cy="2149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23236" cy="214908"/>
            </a:xfrm>
            <a:custGeom>
              <a:avLst/>
              <a:gdLst/>
              <a:ahLst/>
              <a:cxnLst/>
              <a:rect r="r" b="b" t="t" l="l"/>
              <a:pathLst>
                <a:path h="214908" w="4323236">
                  <a:moveTo>
                    <a:pt x="23582" y="0"/>
                  </a:moveTo>
                  <a:lnTo>
                    <a:pt x="4299654" y="0"/>
                  </a:lnTo>
                  <a:cubicBezTo>
                    <a:pt x="4305908" y="0"/>
                    <a:pt x="4311907" y="2485"/>
                    <a:pt x="4316329" y="6907"/>
                  </a:cubicBezTo>
                  <a:cubicBezTo>
                    <a:pt x="4320752" y="11330"/>
                    <a:pt x="4323236" y="17328"/>
                    <a:pt x="4323236" y="23582"/>
                  </a:cubicBezTo>
                  <a:lnTo>
                    <a:pt x="4323236" y="191326"/>
                  </a:lnTo>
                  <a:cubicBezTo>
                    <a:pt x="4323236" y="197580"/>
                    <a:pt x="4320752" y="203578"/>
                    <a:pt x="4316329" y="208001"/>
                  </a:cubicBezTo>
                  <a:cubicBezTo>
                    <a:pt x="4311907" y="212423"/>
                    <a:pt x="4305908" y="214908"/>
                    <a:pt x="4299654" y="214908"/>
                  </a:cubicBezTo>
                  <a:lnTo>
                    <a:pt x="23582" y="214908"/>
                  </a:lnTo>
                  <a:cubicBezTo>
                    <a:pt x="17328" y="214908"/>
                    <a:pt x="11330" y="212423"/>
                    <a:pt x="6907" y="208001"/>
                  </a:cubicBezTo>
                  <a:cubicBezTo>
                    <a:pt x="2485" y="203578"/>
                    <a:pt x="0" y="197580"/>
                    <a:pt x="0" y="191326"/>
                  </a:cubicBezTo>
                  <a:lnTo>
                    <a:pt x="0" y="23582"/>
                  </a:lnTo>
                  <a:cubicBezTo>
                    <a:pt x="0" y="17328"/>
                    <a:pt x="2485" y="11330"/>
                    <a:pt x="6907" y="6907"/>
                  </a:cubicBezTo>
                  <a:cubicBezTo>
                    <a:pt x="11330" y="2485"/>
                    <a:pt x="17328" y="0"/>
                    <a:pt x="23582" y="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323236" cy="262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41247" y="2777111"/>
            <a:ext cx="17088950" cy="4732779"/>
          </a:xfrm>
          <a:custGeom>
            <a:avLst/>
            <a:gdLst/>
            <a:ahLst/>
            <a:cxnLst/>
            <a:rect r="r" b="b" t="t" l="l"/>
            <a:pathLst>
              <a:path h="4732779" w="17088950">
                <a:moveTo>
                  <a:pt x="0" y="0"/>
                </a:moveTo>
                <a:lnTo>
                  <a:pt x="17088950" y="0"/>
                </a:lnTo>
                <a:lnTo>
                  <a:pt x="17088950" y="4732778"/>
                </a:lnTo>
                <a:lnTo>
                  <a:pt x="0" y="4732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4" t="-7303" r="0" b="-39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7450" y="1228142"/>
            <a:ext cx="8436550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접근성 비교 - 세 가지 배정 기준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8387" y="2193482"/>
            <a:ext cx="12478639" cy="94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6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팀 결과 엑셀 「안 비교」 · 등록 주거단위 가중 · 300m 이내 비율</a:t>
            </a:r>
          </a:p>
          <a:p>
            <a:pPr algn="l">
              <a:lnSpc>
                <a:spcPts val="3725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095672" y="7624009"/>
            <a:ext cx="2074802" cy="90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평균 226.1m</a:t>
            </a:r>
          </a:p>
          <a:p>
            <a:pPr algn="ctr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8294153" y="7624009"/>
            <a:ext cx="2074802" cy="45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  <a:spcBef>
                <a:spcPct val="0"/>
              </a:spcBef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평균 195.2m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22018" y="7624009"/>
            <a:ext cx="2074802" cy="90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5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평균 172.6m</a:t>
            </a:r>
          </a:p>
          <a:p>
            <a:pPr algn="ctr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255569" y="8945626"/>
            <a:ext cx="13341250" cy="36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5"/>
              </a:lnSpc>
              <a:spcBef>
                <a:spcPct val="0"/>
              </a:spcBef>
            </a:pPr>
            <a:r>
              <a:rPr lang="en-US" sz="2060">
                <a:solidFill>
                  <a:srgbClr val="262929"/>
                </a:solidFill>
                <a:latin typeface="Poppins"/>
                <a:ea typeface="Poppins"/>
                <a:cs typeface="Poppins"/>
                <a:sym typeface="Poppins"/>
              </a:rPr>
              <a:t>현재 주소 배정은 자기 생활권 담당점입니다. 95.3%는 최근접 가정이며 현장 최적성의 증명이 아닙니다.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530638" y="2242315"/>
            <a:ext cx="11961161" cy="7310884"/>
          </a:xfrm>
          <a:custGeom>
            <a:avLst/>
            <a:gdLst/>
            <a:ahLst/>
            <a:cxnLst/>
            <a:rect r="r" b="b" t="t" l="l"/>
            <a:pathLst>
              <a:path h="7310884" w="11961161">
                <a:moveTo>
                  <a:pt x="0" y="0"/>
                </a:moveTo>
                <a:lnTo>
                  <a:pt x="11961161" y="0"/>
                </a:lnTo>
                <a:lnTo>
                  <a:pt x="11961161" y="7310883"/>
                </a:lnTo>
                <a:lnTo>
                  <a:pt x="0" y="7310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166405" y="2093794"/>
            <a:ext cx="12770589" cy="7805621"/>
          </a:xfrm>
          <a:custGeom>
            <a:avLst/>
            <a:gdLst/>
            <a:ahLst/>
            <a:cxnLst/>
            <a:rect r="r" b="b" t="t" l="l"/>
            <a:pathLst>
              <a:path h="7805621" w="12770589">
                <a:moveTo>
                  <a:pt x="0" y="0"/>
                </a:moveTo>
                <a:lnTo>
                  <a:pt x="12770589" y="0"/>
                </a:lnTo>
                <a:lnTo>
                  <a:pt x="12770589" y="7805621"/>
                </a:lnTo>
                <a:lnTo>
                  <a:pt x="0" y="780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892857" y="2108965"/>
            <a:ext cx="759590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요구사항 정의서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170242" y="427970"/>
            <a:ext cx="14122874" cy="10062547"/>
          </a:xfrm>
          <a:custGeom>
            <a:avLst/>
            <a:gdLst/>
            <a:ahLst/>
            <a:cxnLst/>
            <a:rect r="r" b="b" t="t" l="l"/>
            <a:pathLst>
              <a:path h="10062547" w="14122874">
                <a:moveTo>
                  <a:pt x="0" y="0"/>
                </a:moveTo>
                <a:lnTo>
                  <a:pt x="14122874" y="0"/>
                </a:lnTo>
                <a:lnTo>
                  <a:pt x="14122874" y="10062548"/>
                </a:lnTo>
                <a:lnTo>
                  <a:pt x="0" y="10062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1624769" y="1379436"/>
            <a:ext cx="759590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ERD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C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72151" y="4981575"/>
            <a:ext cx="8543698" cy="104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  <a:spcBef>
                <a:spcPct val="0"/>
              </a:spcBef>
            </a:pPr>
            <a:r>
              <a:rPr lang="en-US" b="true" sz="5829">
                <a:solidFill>
                  <a:srgbClr val="1F4210"/>
                </a:solidFill>
                <a:latin typeface="Poppins Bold"/>
                <a:ea typeface="Poppins Bold"/>
                <a:cs typeface="Poppins Bold"/>
                <a:sym typeface="Poppins Bold"/>
              </a:rPr>
              <a:t>주요 기능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55784" y="4101173"/>
            <a:ext cx="1976431" cy="626546"/>
            <a:chOff x="0" y="0"/>
            <a:chExt cx="359668" cy="1140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9668" cy="114018"/>
            </a:xfrm>
            <a:custGeom>
              <a:avLst/>
              <a:gdLst/>
              <a:ahLst/>
              <a:cxnLst/>
              <a:rect r="r" b="b" t="t" l="l"/>
              <a:pathLst>
                <a:path h="114018" w="359668">
                  <a:moveTo>
                    <a:pt x="57009" y="0"/>
                  </a:moveTo>
                  <a:lnTo>
                    <a:pt x="302659" y="0"/>
                  </a:lnTo>
                  <a:cubicBezTo>
                    <a:pt x="334145" y="0"/>
                    <a:pt x="359668" y="25524"/>
                    <a:pt x="359668" y="57009"/>
                  </a:cubicBezTo>
                  <a:lnTo>
                    <a:pt x="359668" y="57009"/>
                  </a:lnTo>
                  <a:cubicBezTo>
                    <a:pt x="359668" y="72129"/>
                    <a:pt x="353662" y="86629"/>
                    <a:pt x="342971" y="97321"/>
                  </a:cubicBezTo>
                  <a:cubicBezTo>
                    <a:pt x="332279" y="108012"/>
                    <a:pt x="317779" y="114018"/>
                    <a:pt x="302659" y="114018"/>
                  </a:cubicBezTo>
                  <a:lnTo>
                    <a:pt x="57009" y="114018"/>
                  </a:lnTo>
                  <a:cubicBezTo>
                    <a:pt x="25524" y="114018"/>
                    <a:pt x="0" y="88494"/>
                    <a:pt x="0" y="57009"/>
                  </a:cubicBezTo>
                  <a:lnTo>
                    <a:pt x="0" y="57009"/>
                  </a:lnTo>
                  <a:cubicBezTo>
                    <a:pt x="0" y="25524"/>
                    <a:pt x="25524" y="0"/>
                    <a:pt x="57009" y="0"/>
                  </a:cubicBezTo>
                  <a:close/>
                </a:path>
              </a:pathLst>
            </a:custGeom>
            <a:solidFill>
              <a:srgbClr val="ECF4E3"/>
            </a:solidFill>
            <a:ln w="19050" cap="rnd">
              <a:solidFill>
                <a:srgbClr val="4F823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9668" cy="15211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18006" y="4182949"/>
            <a:ext cx="1851988" cy="40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CHAPTER 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04470" y="2821234"/>
            <a:ext cx="3716599" cy="1885981"/>
            <a:chOff x="0" y="0"/>
            <a:chExt cx="717403" cy="3640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7403" cy="364045"/>
            </a:xfrm>
            <a:custGeom>
              <a:avLst/>
              <a:gdLst/>
              <a:ahLst/>
              <a:cxnLst/>
              <a:rect r="r" b="b" t="t" l="l"/>
              <a:pathLst>
                <a:path h="364045" w="717403">
                  <a:moveTo>
                    <a:pt x="66658" y="0"/>
                  </a:moveTo>
                  <a:lnTo>
                    <a:pt x="650745" y="0"/>
                  </a:lnTo>
                  <a:cubicBezTo>
                    <a:pt x="687559" y="0"/>
                    <a:pt x="717403" y="29844"/>
                    <a:pt x="717403" y="66658"/>
                  </a:cubicBezTo>
                  <a:lnTo>
                    <a:pt x="717403" y="297386"/>
                  </a:lnTo>
                  <a:cubicBezTo>
                    <a:pt x="717403" y="334201"/>
                    <a:pt x="687559" y="364045"/>
                    <a:pt x="650745" y="364045"/>
                  </a:cubicBezTo>
                  <a:lnTo>
                    <a:pt x="66658" y="364045"/>
                  </a:lnTo>
                  <a:cubicBezTo>
                    <a:pt x="29844" y="364045"/>
                    <a:pt x="0" y="334201"/>
                    <a:pt x="0" y="297386"/>
                  </a:cubicBezTo>
                  <a:lnTo>
                    <a:pt x="0" y="66658"/>
                  </a:lnTo>
                  <a:cubicBezTo>
                    <a:pt x="0" y="29844"/>
                    <a:pt x="29844" y="0"/>
                    <a:pt x="66658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7403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08798" y="2965832"/>
            <a:ext cx="2187919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주소 검색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37698" y="6452980"/>
            <a:ext cx="2169678" cy="45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 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37698" y="7140982"/>
            <a:ext cx="2506779" cy="110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  <a:spcBef>
                <a:spcPct val="0"/>
              </a:spcBef>
            </a:pPr>
            <a:r>
              <a:rPr lang="en-US" sz="12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46047" y="1342593"/>
            <a:ext cx="7595905" cy="926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5"/>
              </a:lnSpc>
              <a:spcBef>
                <a:spcPct val="0"/>
              </a:spcBef>
            </a:pPr>
            <a:r>
              <a:rPr lang="en-US" b="true" sz="51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핵심 기능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288562" y="2821234"/>
            <a:ext cx="3710875" cy="1885981"/>
            <a:chOff x="0" y="0"/>
            <a:chExt cx="716298" cy="3640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6298" cy="364045"/>
            </a:xfrm>
            <a:custGeom>
              <a:avLst/>
              <a:gdLst/>
              <a:ahLst/>
              <a:cxnLst/>
              <a:rect r="r" b="b" t="t" l="l"/>
              <a:pathLst>
                <a:path h="364045" w="716298">
                  <a:moveTo>
                    <a:pt x="66761" y="0"/>
                  </a:moveTo>
                  <a:lnTo>
                    <a:pt x="649537" y="0"/>
                  </a:lnTo>
                  <a:cubicBezTo>
                    <a:pt x="667243" y="0"/>
                    <a:pt x="684224" y="7034"/>
                    <a:pt x="696744" y="19554"/>
                  </a:cubicBezTo>
                  <a:cubicBezTo>
                    <a:pt x="709264" y="32074"/>
                    <a:pt x="716298" y="49055"/>
                    <a:pt x="716298" y="66761"/>
                  </a:cubicBezTo>
                  <a:lnTo>
                    <a:pt x="716298" y="297284"/>
                  </a:lnTo>
                  <a:cubicBezTo>
                    <a:pt x="716298" y="314990"/>
                    <a:pt x="709264" y="331971"/>
                    <a:pt x="696744" y="344491"/>
                  </a:cubicBezTo>
                  <a:cubicBezTo>
                    <a:pt x="684224" y="357011"/>
                    <a:pt x="667243" y="364045"/>
                    <a:pt x="649537" y="364045"/>
                  </a:cubicBezTo>
                  <a:lnTo>
                    <a:pt x="66761" y="364045"/>
                  </a:lnTo>
                  <a:cubicBezTo>
                    <a:pt x="49055" y="364045"/>
                    <a:pt x="32074" y="357011"/>
                    <a:pt x="19554" y="344491"/>
                  </a:cubicBezTo>
                  <a:cubicBezTo>
                    <a:pt x="7034" y="331971"/>
                    <a:pt x="0" y="314990"/>
                    <a:pt x="0" y="297284"/>
                  </a:cubicBezTo>
                  <a:lnTo>
                    <a:pt x="0" y="66761"/>
                  </a:lnTo>
                  <a:cubicBezTo>
                    <a:pt x="0" y="49055"/>
                    <a:pt x="7034" y="32074"/>
                    <a:pt x="19554" y="19554"/>
                  </a:cubicBezTo>
                  <a:cubicBezTo>
                    <a:pt x="32074" y="7034"/>
                    <a:pt x="49055" y="0"/>
                    <a:pt x="66761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16298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770607" y="2965832"/>
            <a:ext cx="2534032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거점 마커 표시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570732" y="2821234"/>
            <a:ext cx="3710875" cy="1885981"/>
            <a:chOff x="0" y="0"/>
            <a:chExt cx="716298" cy="3640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298" cy="364045"/>
            </a:xfrm>
            <a:custGeom>
              <a:avLst/>
              <a:gdLst/>
              <a:ahLst/>
              <a:cxnLst/>
              <a:rect r="r" b="b" t="t" l="l"/>
              <a:pathLst>
                <a:path h="364045" w="716298">
                  <a:moveTo>
                    <a:pt x="66761" y="0"/>
                  </a:moveTo>
                  <a:lnTo>
                    <a:pt x="649537" y="0"/>
                  </a:lnTo>
                  <a:cubicBezTo>
                    <a:pt x="667243" y="0"/>
                    <a:pt x="684224" y="7034"/>
                    <a:pt x="696744" y="19554"/>
                  </a:cubicBezTo>
                  <a:cubicBezTo>
                    <a:pt x="709264" y="32074"/>
                    <a:pt x="716298" y="49055"/>
                    <a:pt x="716298" y="66761"/>
                  </a:cubicBezTo>
                  <a:lnTo>
                    <a:pt x="716298" y="297284"/>
                  </a:lnTo>
                  <a:cubicBezTo>
                    <a:pt x="716298" y="314990"/>
                    <a:pt x="709264" y="331971"/>
                    <a:pt x="696744" y="344491"/>
                  </a:cubicBezTo>
                  <a:cubicBezTo>
                    <a:pt x="684224" y="357011"/>
                    <a:pt x="667243" y="364045"/>
                    <a:pt x="649537" y="364045"/>
                  </a:cubicBezTo>
                  <a:lnTo>
                    <a:pt x="66761" y="364045"/>
                  </a:lnTo>
                  <a:cubicBezTo>
                    <a:pt x="49055" y="364045"/>
                    <a:pt x="32074" y="357011"/>
                    <a:pt x="19554" y="344491"/>
                  </a:cubicBezTo>
                  <a:cubicBezTo>
                    <a:pt x="7034" y="331971"/>
                    <a:pt x="0" y="314990"/>
                    <a:pt x="0" y="297284"/>
                  </a:cubicBezTo>
                  <a:lnTo>
                    <a:pt x="0" y="66761"/>
                  </a:lnTo>
                  <a:cubicBezTo>
                    <a:pt x="0" y="49055"/>
                    <a:pt x="7034" y="32074"/>
                    <a:pt x="19554" y="19554"/>
                  </a:cubicBezTo>
                  <a:cubicBezTo>
                    <a:pt x="32074" y="7034"/>
                    <a:pt x="49055" y="0"/>
                    <a:pt x="66761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16298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167715" y="2965832"/>
            <a:ext cx="2534032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상세 분석 제공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004470" y="5022339"/>
            <a:ext cx="3710875" cy="1885981"/>
            <a:chOff x="0" y="0"/>
            <a:chExt cx="716298" cy="3640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6298" cy="364045"/>
            </a:xfrm>
            <a:custGeom>
              <a:avLst/>
              <a:gdLst/>
              <a:ahLst/>
              <a:cxnLst/>
              <a:rect r="r" b="b" t="t" l="l"/>
              <a:pathLst>
                <a:path h="364045" w="716298">
                  <a:moveTo>
                    <a:pt x="66761" y="0"/>
                  </a:moveTo>
                  <a:lnTo>
                    <a:pt x="649537" y="0"/>
                  </a:lnTo>
                  <a:cubicBezTo>
                    <a:pt x="667243" y="0"/>
                    <a:pt x="684224" y="7034"/>
                    <a:pt x="696744" y="19554"/>
                  </a:cubicBezTo>
                  <a:cubicBezTo>
                    <a:pt x="709264" y="32074"/>
                    <a:pt x="716298" y="49055"/>
                    <a:pt x="716298" y="66761"/>
                  </a:cubicBezTo>
                  <a:lnTo>
                    <a:pt x="716298" y="297284"/>
                  </a:lnTo>
                  <a:cubicBezTo>
                    <a:pt x="716298" y="314990"/>
                    <a:pt x="709264" y="331971"/>
                    <a:pt x="696744" y="344491"/>
                  </a:cubicBezTo>
                  <a:cubicBezTo>
                    <a:pt x="684224" y="357011"/>
                    <a:pt x="667243" y="364045"/>
                    <a:pt x="649537" y="364045"/>
                  </a:cubicBezTo>
                  <a:lnTo>
                    <a:pt x="66761" y="364045"/>
                  </a:lnTo>
                  <a:cubicBezTo>
                    <a:pt x="49055" y="364045"/>
                    <a:pt x="32074" y="357011"/>
                    <a:pt x="19554" y="344491"/>
                  </a:cubicBezTo>
                  <a:cubicBezTo>
                    <a:pt x="7034" y="331971"/>
                    <a:pt x="0" y="314990"/>
                    <a:pt x="0" y="297284"/>
                  </a:cubicBezTo>
                  <a:lnTo>
                    <a:pt x="0" y="66761"/>
                  </a:lnTo>
                  <a:cubicBezTo>
                    <a:pt x="0" y="49055"/>
                    <a:pt x="7034" y="32074"/>
                    <a:pt x="19554" y="19554"/>
                  </a:cubicBezTo>
                  <a:cubicBezTo>
                    <a:pt x="32074" y="7034"/>
                    <a:pt x="49055" y="0"/>
                    <a:pt x="66761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16298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242042" y="5164619"/>
            <a:ext cx="3254781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사진으로 품목 확인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288562" y="5022339"/>
            <a:ext cx="3710875" cy="1885981"/>
            <a:chOff x="0" y="0"/>
            <a:chExt cx="716298" cy="3640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6298" cy="364045"/>
            </a:xfrm>
            <a:custGeom>
              <a:avLst/>
              <a:gdLst/>
              <a:ahLst/>
              <a:cxnLst/>
              <a:rect r="r" b="b" t="t" l="l"/>
              <a:pathLst>
                <a:path h="364045" w="716298">
                  <a:moveTo>
                    <a:pt x="66761" y="0"/>
                  </a:moveTo>
                  <a:lnTo>
                    <a:pt x="649537" y="0"/>
                  </a:lnTo>
                  <a:cubicBezTo>
                    <a:pt x="667243" y="0"/>
                    <a:pt x="684224" y="7034"/>
                    <a:pt x="696744" y="19554"/>
                  </a:cubicBezTo>
                  <a:cubicBezTo>
                    <a:pt x="709264" y="32074"/>
                    <a:pt x="716298" y="49055"/>
                    <a:pt x="716298" y="66761"/>
                  </a:cubicBezTo>
                  <a:lnTo>
                    <a:pt x="716298" y="297284"/>
                  </a:lnTo>
                  <a:cubicBezTo>
                    <a:pt x="716298" y="314990"/>
                    <a:pt x="709264" y="331971"/>
                    <a:pt x="696744" y="344491"/>
                  </a:cubicBezTo>
                  <a:cubicBezTo>
                    <a:pt x="684224" y="357011"/>
                    <a:pt x="667243" y="364045"/>
                    <a:pt x="649537" y="364045"/>
                  </a:cubicBezTo>
                  <a:lnTo>
                    <a:pt x="66761" y="364045"/>
                  </a:lnTo>
                  <a:cubicBezTo>
                    <a:pt x="49055" y="364045"/>
                    <a:pt x="32074" y="357011"/>
                    <a:pt x="19554" y="344491"/>
                  </a:cubicBezTo>
                  <a:cubicBezTo>
                    <a:pt x="7034" y="331971"/>
                    <a:pt x="0" y="314990"/>
                    <a:pt x="0" y="297284"/>
                  </a:cubicBezTo>
                  <a:lnTo>
                    <a:pt x="0" y="66761"/>
                  </a:lnTo>
                  <a:cubicBezTo>
                    <a:pt x="0" y="49055"/>
                    <a:pt x="7034" y="32074"/>
                    <a:pt x="19554" y="19554"/>
                  </a:cubicBezTo>
                  <a:cubicBezTo>
                    <a:pt x="32074" y="7034"/>
                    <a:pt x="49055" y="0"/>
                    <a:pt x="66761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16298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565008" y="5022339"/>
            <a:ext cx="3716599" cy="1885981"/>
            <a:chOff x="0" y="0"/>
            <a:chExt cx="717403" cy="3640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7403" cy="364045"/>
            </a:xfrm>
            <a:custGeom>
              <a:avLst/>
              <a:gdLst/>
              <a:ahLst/>
              <a:cxnLst/>
              <a:rect r="r" b="b" t="t" l="l"/>
              <a:pathLst>
                <a:path h="364045" w="717403">
                  <a:moveTo>
                    <a:pt x="66658" y="0"/>
                  </a:moveTo>
                  <a:lnTo>
                    <a:pt x="650745" y="0"/>
                  </a:lnTo>
                  <a:cubicBezTo>
                    <a:pt x="687559" y="0"/>
                    <a:pt x="717403" y="29844"/>
                    <a:pt x="717403" y="66658"/>
                  </a:cubicBezTo>
                  <a:lnTo>
                    <a:pt x="717403" y="297386"/>
                  </a:lnTo>
                  <a:cubicBezTo>
                    <a:pt x="717403" y="334201"/>
                    <a:pt x="687559" y="364045"/>
                    <a:pt x="650745" y="364045"/>
                  </a:cubicBezTo>
                  <a:lnTo>
                    <a:pt x="66658" y="364045"/>
                  </a:lnTo>
                  <a:cubicBezTo>
                    <a:pt x="29844" y="364045"/>
                    <a:pt x="0" y="334201"/>
                    <a:pt x="0" y="297386"/>
                  </a:cubicBezTo>
                  <a:lnTo>
                    <a:pt x="0" y="66658"/>
                  </a:lnTo>
                  <a:cubicBezTo>
                    <a:pt x="0" y="29844"/>
                    <a:pt x="29844" y="0"/>
                    <a:pt x="66658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17403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894627" y="5164619"/>
            <a:ext cx="3254781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배출 방법 질의응답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3004470" y="7221430"/>
            <a:ext cx="3716599" cy="1885981"/>
            <a:chOff x="0" y="0"/>
            <a:chExt cx="717403" cy="3640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7403" cy="364045"/>
            </a:xfrm>
            <a:custGeom>
              <a:avLst/>
              <a:gdLst/>
              <a:ahLst/>
              <a:cxnLst/>
              <a:rect r="r" b="b" t="t" l="l"/>
              <a:pathLst>
                <a:path h="364045" w="717403">
                  <a:moveTo>
                    <a:pt x="66658" y="0"/>
                  </a:moveTo>
                  <a:lnTo>
                    <a:pt x="650745" y="0"/>
                  </a:lnTo>
                  <a:cubicBezTo>
                    <a:pt x="687559" y="0"/>
                    <a:pt x="717403" y="29844"/>
                    <a:pt x="717403" y="66658"/>
                  </a:cubicBezTo>
                  <a:lnTo>
                    <a:pt x="717403" y="297386"/>
                  </a:lnTo>
                  <a:cubicBezTo>
                    <a:pt x="717403" y="334201"/>
                    <a:pt x="687559" y="364045"/>
                    <a:pt x="650745" y="364045"/>
                  </a:cubicBezTo>
                  <a:lnTo>
                    <a:pt x="66658" y="364045"/>
                  </a:lnTo>
                  <a:cubicBezTo>
                    <a:pt x="29844" y="364045"/>
                    <a:pt x="0" y="334201"/>
                    <a:pt x="0" y="297386"/>
                  </a:cubicBezTo>
                  <a:lnTo>
                    <a:pt x="0" y="66658"/>
                  </a:lnTo>
                  <a:cubicBezTo>
                    <a:pt x="0" y="29844"/>
                    <a:pt x="29844" y="0"/>
                    <a:pt x="66658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17403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3512795" y="7385033"/>
            <a:ext cx="2579924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관리자 로그인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288562" y="7221430"/>
            <a:ext cx="3710875" cy="1885981"/>
            <a:chOff x="0" y="0"/>
            <a:chExt cx="716298" cy="3640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6298" cy="364045"/>
            </a:xfrm>
            <a:custGeom>
              <a:avLst/>
              <a:gdLst/>
              <a:ahLst/>
              <a:cxnLst/>
              <a:rect r="r" b="b" t="t" l="l"/>
              <a:pathLst>
                <a:path h="364045" w="716298">
                  <a:moveTo>
                    <a:pt x="66761" y="0"/>
                  </a:moveTo>
                  <a:lnTo>
                    <a:pt x="649537" y="0"/>
                  </a:lnTo>
                  <a:cubicBezTo>
                    <a:pt x="667243" y="0"/>
                    <a:pt x="684224" y="7034"/>
                    <a:pt x="696744" y="19554"/>
                  </a:cubicBezTo>
                  <a:cubicBezTo>
                    <a:pt x="709264" y="32074"/>
                    <a:pt x="716298" y="49055"/>
                    <a:pt x="716298" y="66761"/>
                  </a:cubicBezTo>
                  <a:lnTo>
                    <a:pt x="716298" y="297284"/>
                  </a:lnTo>
                  <a:cubicBezTo>
                    <a:pt x="716298" y="314990"/>
                    <a:pt x="709264" y="331971"/>
                    <a:pt x="696744" y="344491"/>
                  </a:cubicBezTo>
                  <a:cubicBezTo>
                    <a:pt x="684224" y="357011"/>
                    <a:pt x="667243" y="364045"/>
                    <a:pt x="649537" y="364045"/>
                  </a:cubicBezTo>
                  <a:lnTo>
                    <a:pt x="66761" y="364045"/>
                  </a:lnTo>
                  <a:cubicBezTo>
                    <a:pt x="49055" y="364045"/>
                    <a:pt x="32074" y="357011"/>
                    <a:pt x="19554" y="344491"/>
                  </a:cubicBezTo>
                  <a:cubicBezTo>
                    <a:pt x="7034" y="331971"/>
                    <a:pt x="0" y="314990"/>
                    <a:pt x="0" y="297284"/>
                  </a:cubicBezTo>
                  <a:lnTo>
                    <a:pt x="0" y="66761"/>
                  </a:lnTo>
                  <a:cubicBezTo>
                    <a:pt x="0" y="49055"/>
                    <a:pt x="7034" y="32074"/>
                    <a:pt x="19554" y="19554"/>
                  </a:cubicBezTo>
                  <a:cubicBezTo>
                    <a:pt x="32074" y="7034"/>
                    <a:pt x="49055" y="0"/>
                    <a:pt x="66761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16298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7484980" y="7363406"/>
            <a:ext cx="3318041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배출 안내 자료 관리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570732" y="7221430"/>
            <a:ext cx="3710875" cy="1885981"/>
            <a:chOff x="0" y="0"/>
            <a:chExt cx="716298" cy="3640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6298" cy="364045"/>
            </a:xfrm>
            <a:custGeom>
              <a:avLst/>
              <a:gdLst/>
              <a:ahLst/>
              <a:cxnLst/>
              <a:rect r="r" b="b" t="t" l="l"/>
              <a:pathLst>
                <a:path h="364045" w="716298">
                  <a:moveTo>
                    <a:pt x="66761" y="0"/>
                  </a:moveTo>
                  <a:lnTo>
                    <a:pt x="649537" y="0"/>
                  </a:lnTo>
                  <a:cubicBezTo>
                    <a:pt x="667243" y="0"/>
                    <a:pt x="684224" y="7034"/>
                    <a:pt x="696744" y="19554"/>
                  </a:cubicBezTo>
                  <a:cubicBezTo>
                    <a:pt x="709264" y="32074"/>
                    <a:pt x="716298" y="49055"/>
                    <a:pt x="716298" y="66761"/>
                  </a:cubicBezTo>
                  <a:lnTo>
                    <a:pt x="716298" y="297284"/>
                  </a:lnTo>
                  <a:cubicBezTo>
                    <a:pt x="716298" y="314990"/>
                    <a:pt x="709264" y="331971"/>
                    <a:pt x="696744" y="344491"/>
                  </a:cubicBezTo>
                  <a:cubicBezTo>
                    <a:pt x="684224" y="357011"/>
                    <a:pt x="667243" y="364045"/>
                    <a:pt x="649537" y="364045"/>
                  </a:cubicBezTo>
                  <a:lnTo>
                    <a:pt x="66761" y="364045"/>
                  </a:lnTo>
                  <a:cubicBezTo>
                    <a:pt x="49055" y="364045"/>
                    <a:pt x="32074" y="357011"/>
                    <a:pt x="19554" y="344491"/>
                  </a:cubicBezTo>
                  <a:cubicBezTo>
                    <a:pt x="7034" y="331971"/>
                    <a:pt x="0" y="314990"/>
                    <a:pt x="0" y="297284"/>
                  </a:cubicBezTo>
                  <a:lnTo>
                    <a:pt x="0" y="66761"/>
                  </a:lnTo>
                  <a:cubicBezTo>
                    <a:pt x="0" y="49055"/>
                    <a:pt x="7034" y="32074"/>
                    <a:pt x="19554" y="19554"/>
                  </a:cubicBezTo>
                  <a:cubicBezTo>
                    <a:pt x="32074" y="7034"/>
                    <a:pt x="49055" y="0"/>
                    <a:pt x="66761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16298" cy="40214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156292" y="7385033"/>
            <a:ext cx="2534032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수거 경로안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770607" y="5164415"/>
            <a:ext cx="2534032" cy="55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규격 확인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353181" y="3669954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건물명·도로명·지번으로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원하는 위치를 검색합니다.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627749" y="3669954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지도에서 기존 거점과 제안 거점의 위치를 확인합니다.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918480" y="3669954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검색한 위치의 생활권과 거점 분석 결과를 확인합니다.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343656" y="5867830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사진으로 배출 품목을 확인하고 해당 품목을 선택합니다.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627749" y="5867830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품목별 규격과 수수료 정보를 확인합니다.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005766" y="5868741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배출 관련 질문에 공식 안내 자료를 바탕으로 답변합니다.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353181" y="8066920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관리자 인증을 통해 배출 안내 자료를 관리합니다.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627749" y="8107270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안내 자료를 수정하고 변경 이력을 확인합니다.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918480" y="8066920"/>
            <a:ext cx="3032503" cy="69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선택한 거점을 방문하는 수거 경로안을 확인합니다.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84664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77517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96330" y="-1141802"/>
            <a:ext cx="12883553" cy="128835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49534" y="289331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7" y="0"/>
                </a:lnTo>
                <a:lnTo>
                  <a:pt x="11069127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807607" y="-153080"/>
            <a:ext cx="10906108" cy="109061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534944" y="1824579"/>
            <a:ext cx="17248246" cy="8462421"/>
          </a:xfrm>
          <a:custGeom>
            <a:avLst/>
            <a:gdLst/>
            <a:ahLst/>
            <a:cxnLst/>
            <a:rect r="r" b="b" t="t" l="l"/>
            <a:pathLst>
              <a:path h="8462421" w="17248246">
                <a:moveTo>
                  <a:pt x="0" y="0"/>
                </a:moveTo>
                <a:lnTo>
                  <a:pt x="17248245" y="0"/>
                </a:lnTo>
                <a:lnTo>
                  <a:pt x="17248245" y="8462421"/>
                </a:lnTo>
                <a:lnTo>
                  <a:pt x="0" y="8462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5713" y="895350"/>
            <a:ext cx="3739689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메인 페이지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986024" y="4235539"/>
            <a:ext cx="1629954" cy="398265"/>
            <a:chOff x="0" y="0"/>
            <a:chExt cx="304521" cy="744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017721" y="4238881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네비게이션 바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89639" y="3387814"/>
            <a:ext cx="1629954" cy="398265"/>
            <a:chOff x="0" y="0"/>
            <a:chExt cx="304521" cy="744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921336" y="3391156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주소 검색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404472" y="4745235"/>
            <a:ext cx="1349390" cy="329712"/>
            <a:chOff x="0" y="0"/>
            <a:chExt cx="304521" cy="744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430713" y="4747690"/>
            <a:ext cx="1296908" cy="26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  <a:spcBef>
                <a:spcPct val="0"/>
              </a:spcBef>
            </a:pPr>
            <a:r>
              <a:rPr lang="en-US" sz="1415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검색 지우기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673456" y="2989549"/>
            <a:ext cx="2702405" cy="398265"/>
            <a:chOff x="0" y="0"/>
            <a:chExt cx="504884" cy="744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4884" cy="74407"/>
            </a:xfrm>
            <a:custGeom>
              <a:avLst/>
              <a:gdLst/>
              <a:ahLst/>
              <a:cxnLst/>
              <a:rect r="r" b="b" t="t" l="l"/>
              <a:pathLst>
                <a:path h="74407" w="504884">
                  <a:moveTo>
                    <a:pt x="37203" y="0"/>
                  </a:moveTo>
                  <a:lnTo>
                    <a:pt x="467681" y="0"/>
                  </a:lnTo>
                  <a:cubicBezTo>
                    <a:pt x="477548" y="0"/>
                    <a:pt x="487010" y="3920"/>
                    <a:pt x="493988" y="10897"/>
                  </a:cubicBezTo>
                  <a:cubicBezTo>
                    <a:pt x="500965" y="17874"/>
                    <a:pt x="504884" y="27336"/>
                    <a:pt x="504884" y="37203"/>
                  </a:cubicBezTo>
                  <a:lnTo>
                    <a:pt x="504884" y="37203"/>
                  </a:lnTo>
                  <a:cubicBezTo>
                    <a:pt x="504884" y="57750"/>
                    <a:pt x="488228" y="74407"/>
                    <a:pt x="467681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4884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705153" y="2992891"/>
            <a:ext cx="257684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9개의 거점/생활 반경 표시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96330" y="-1141802"/>
            <a:ext cx="12883553" cy="128835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49534" y="289331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7" y="0"/>
                </a:lnTo>
                <a:lnTo>
                  <a:pt x="11069127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807607" y="-153080"/>
            <a:ext cx="10906108" cy="109061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86024" y="4235539"/>
            <a:ext cx="1629954" cy="398265"/>
            <a:chOff x="0" y="0"/>
            <a:chExt cx="304521" cy="744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04472" y="4745235"/>
            <a:ext cx="1349390" cy="329712"/>
            <a:chOff x="0" y="0"/>
            <a:chExt cx="304521" cy="744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210235" y="9249256"/>
            <a:ext cx="1629954" cy="398265"/>
            <a:chOff x="0" y="0"/>
            <a:chExt cx="304521" cy="744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017721" y="4238881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네비게이션 바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-929459" y="3851194"/>
            <a:ext cx="13084230" cy="6435806"/>
          </a:xfrm>
          <a:custGeom>
            <a:avLst/>
            <a:gdLst/>
            <a:ahLst/>
            <a:cxnLst/>
            <a:rect r="r" b="b" t="t" l="l"/>
            <a:pathLst>
              <a:path h="6435806" w="13084230">
                <a:moveTo>
                  <a:pt x="0" y="0"/>
                </a:moveTo>
                <a:lnTo>
                  <a:pt x="13084230" y="0"/>
                </a:lnTo>
                <a:lnTo>
                  <a:pt x="13084230" y="6435806"/>
                </a:lnTo>
                <a:lnTo>
                  <a:pt x="0" y="6435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6000">
            <a:off x="1181305" y="3169974"/>
            <a:ext cx="11092631" cy="7241743"/>
          </a:xfrm>
          <a:custGeom>
            <a:avLst/>
            <a:gdLst/>
            <a:ahLst/>
            <a:cxnLst/>
            <a:rect r="r" b="b" t="t" l="l"/>
            <a:pathLst>
              <a:path h="7241743" w="11092631">
                <a:moveTo>
                  <a:pt x="0" y="19338"/>
                </a:moveTo>
                <a:lnTo>
                  <a:pt x="11080025" y="0"/>
                </a:lnTo>
                <a:lnTo>
                  <a:pt x="11092631" y="7222404"/>
                </a:lnTo>
                <a:lnTo>
                  <a:pt x="12606" y="7241743"/>
                </a:lnTo>
                <a:lnTo>
                  <a:pt x="0" y="19338"/>
                </a:lnTo>
                <a:close/>
              </a:path>
            </a:pathLst>
          </a:custGeom>
          <a:blipFill>
            <a:blip r:embed="rId4"/>
            <a:stretch>
              <a:fillRect l="-22846" t="-2873" r="0" b="-14734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935073" y="761291"/>
            <a:ext cx="5030288" cy="6384596"/>
          </a:xfrm>
          <a:custGeom>
            <a:avLst/>
            <a:gdLst/>
            <a:ahLst/>
            <a:cxnLst/>
            <a:rect r="r" b="b" t="t" l="l"/>
            <a:pathLst>
              <a:path h="6384596" w="5030288">
                <a:moveTo>
                  <a:pt x="0" y="0"/>
                </a:moveTo>
                <a:lnTo>
                  <a:pt x="5030288" y="0"/>
                </a:lnTo>
                <a:lnTo>
                  <a:pt x="5030288" y="6384596"/>
                </a:lnTo>
                <a:lnTo>
                  <a:pt x="0" y="63845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112632" y="5671238"/>
            <a:ext cx="11825161" cy="7277022"/>
          </a:xfrm>
          <a:custGeom>
            <a:avLst/>
            <a:gdLst/>
            <a:ahLst/>
            <a:cxnLst/>
            <a:rect r="r" b="b" t="t" l="l"/>
            <a:pathLst>
              <a:path h="7277022" w="11825161">
                <a:moveTo>
                  <a:pt x="0" y="0"/>
                </a:moveTo>
                <a:lnTo>
                  <a:pt x="11825161" y="0"/>
                </a:lnTo>
                <a:lnTo>
                  <a:pt x="11825161" y="7277021"/>
                </a:lnTo>
                <a:lnTo>
                  <a:pt x="0" y="72770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8695" y="3188778"/>
            <a:ext cx="1442269" cy="7107363"/>
          </a:xfrm>
          <a:custGeom>
            <a:avLst/>
            <a:gdLst/>
            <a:ahLst/>
            <a:cxnLst/>
            <a:rect r="r" b="b" t="t" l="l"/>
            <a:pathLst>
              <a:path h="7107363" w="1442269">
                <a:moveTo>
                  <a:pt x="0" y="0"/>
                </a:moveTo>
                <a:lnTo>
                  <a:pt x="1442269" y="0"/>
                </a:lnTo>
                <a:lnTo>
                  <a:pt x="1442269" y="7107363"/>
                </a:lnTo>
                <a:lnTo>
                  <a:pt x="0" y="7107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57" r="-953103" b="-2557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3982702" y="6163150"/>
            <a:ext cx="1629954" cy="398265"/>
            <a:chOff x="0" y="0"/>
            <a:chExt cx="304521" cy="7440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133435" y="9258300"/>
            <a:ext cx="1629954" cy="398265"/>
            <a:chOff x="0" y="0"/>
            <a:chExt cx="304521" cy="744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35402" y="2113684"/>
            <a:ext cx="1840526" cy="398265"/>
            <a:chOff x="0" y="0"/>
            <a:chExt cx="343861" cy="744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3861" cy="74407"/>
            </a:xfrm>
            <a:custGeom>
              <a:avLst/>
              <a:gdLst/>
              <a:ahLst/>
              <a:cxnLst/>
              <a:rect r="r" b="b" t="t" l="l"/>
              <a:pathLst>
                <a:path h="74407" w="343861">
                  <a:moveTo>
                    <a:pt x="37203" y="0"/>
                  </a:moveTo>
                  <a:lnTo>
                    <a:pt x="306658" y="0"/>
                  </a:lnTo>
                  <a:cubicBezTo>
                    <a:pt x="327205" y="0"/>
                    <a:pt x="343861" y="16657"/>
                    <a:pt x="343861" y="37203"/>
                  </a:cubicBezTo>
                  <a:lnTo>
                    <a:pt x="343861" y="37203"/>
                  </a:lnTo>
                  <a:cubicBezTo>
                    <a:pt x="343861" y="47070"/>
                    <a:pt x="339942" y="56533"/>
                    <a:pt x="332965" y="63510"/>
                  </a:cubicBezTo>
                  <a:cubicBezTo>
                    <a:pt x="325988" y="70487"/>
                    <a:pt x="316525" y="74407"/>
                    <a:pt x="306658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4386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522018" y="6482834"/>
            <a:ext cx="1800925" cy="398265"/>
            <a:chOff x="0" y="0"/>
            <a:chExt cx="336463" cy="744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6463" cy="74407"/>
            </a:xfrm>
            <a:custGeom>
              <a:avLst/>
              <a:gdLst/>
              <a:ahLst/>
              <a:cxnLst/>
              <a:rect r="r" b="b" t="t" l="l"/>
              <a:pathLst>
                <a:path h="74407" w="336463">
                  <a:moveTo>
                    <a:pt x="37203" y="0"/>
                  </a:moveTo>
                  <a:lnTo>
                    <a:pt x="299259" y="0"/>
                  </a:lnTo>
                  <a:cubicBezTo>
                    <a:pt x="319806" y="0"/>
                    <a:pt x="336463" y="16657"/>
                    <a:pt x="336463" y="37203"/>
                  </a:cubicBezTo>
                  <a:lnTo>
                    <a:pt x="336463" y="37203"/>
                  </a:lnTo>
                  <a:cubicBezTo>
                    <a:pt x="336463" y="47070"/>
                    <a:pt x="332543" y="56533"/>
                    <a:pt x="325566" y="63510"/>
                  </a:cubicBezTo>
                  <a:cubicBezTo>
                    <a:pt x="318589" y="70487"/>
                    <a:pt x="309126" y="74407"/>
                    <a:pt x="299259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36463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154289" y="5074947"/>
            <a:ext cx="2600155" cy="398265"/>
            <a:chOff x="0" y="0"/>
            <a:chExt cx="485781" cy="744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5781" cy="74407"/>
            </a:xfrm>
            <a:custGeom>
              <a:avLst/>
              <a:gdLst/>
              <a:ahLst/>
              <a:cxnLst/>
              <a:rect r="r" b="b" t="t" l="l"/>
              <a:pathLst>
                <a:path h="74407" w="485781">
                  <a:moveTo>
                    <a:pt x="37203" y="0"/>
                  </a:moveTo>
                  <a:lnTo>
                    <a:pt x="448578" y="0"/>
                  </a:lnTo>
                  <a:cubicBezTo>
                    <a:pt x="469125" y="0"/>
                    <a:pt x="485781" y="16657"/>
                    <a:pt x="485781" y="37203"/>
                  </a:cubicBezTo>
                  <a:lnTo>
                    <a:pt x="485781" y="37203"/>
                  </a:lnTo>
                  <a:cubicBezTo>
                    <a:pt x="485781" y="47070"/>
                    <a:pt x="481861" y="56533"/>
                    <a:pt x="474884" y="63510"/>
                  </a:cubicBezTo>
                  <a:cubicBezTo>
                    <a:pt x="467907" y="70487"/>
                    <a:pt x="458445" y="74407"/>
                    <a:pt x="448578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8578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5713" y="1832576"/>
            <a:ext cx="4497525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폐기물 배출 안내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30713" y="4747690"/>
            <a:ext cx="1296908" cy="26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  <a:spcBef>
                <a:spcPct val="0"/>
              </a:spcBef>
            </a:pPr>
            <a:r>
              <a:rPr lang="en-US" sz="1415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검색 지우기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241932" y="9252598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9개의 거점 표시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014399" y="6166493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사진 첨부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65132" y="9261643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질문 &gt; 응답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475772" y="2117027"/>
            <a:ext cx="3359785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자세한 내용 입력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639200" y="6486177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관련 볍령 근거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85986" y="5078289"/>
            <a:ext cx="2568458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수수료/신청 방법 확인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96330" y="-1141802"/>
            <a:ext cx="12883553" cy="128835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49534" y="289331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7" y="0"/>
                </a:lnTo>
                <a:lnTo>
                  <a:pt x="11069127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807607" y="-153080"/>
            <a:ext cx="10906108" cy="109061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76654" y="3143515"/>
            <a:ext cx="15515145" cy="6623027"/>
          </a:xfrm>
          <a:custGeom>
            <a:avLst/>
            <a:gdLst/>
            <a:ahLst/>
            <a:cxnLst/>
            <a:rect r="r" b="b" t="t" l="l"/>
            <a:pathLst>
              <a:path h="6623027" w="15515145">
                <a:moveTo>
                  <a:pt x="0" y="0"/>
                </a:moveTo>
                <a:lnTo>
                  <a:pt x="15515145" y="0"/>
                </a:lnTo>
                <a:lnTo>
                  <a:pt x="15515145" y="6623028"/>
                </a:lnTo>
                <a:lnTo>
                  <a:pt x="0" y="6623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5713" y="1832576"/>
            <a:ext cx="4497525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서비스 소개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315599" y="7580808"/>
            <a:ext cx="4111384" cy="398265"/>
            <a:chOff x="0" y="0"/>
            <a:chExt cx="768121" cy="744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121" cy="74407"/>
            </a:xfrm>
            <a:custGeom>
              <a:avLst/>
              <a:gdLst/>
              <a:ahLst/>
              <a:cxnLst/>
              <a:rect r="r" b="b" t="t" l="l"/>
              <a:pathLst>
                <a:path h="74407" w="768121">
                  <a:moveTo>
                    <a:pt x="24480" y="0"/>
                  </a:moveTo>
                  <a:lnTo>
                    <a:pt x="743641" y="0"/>
                  </a:lnTo>
                  <a:cubicBezTo>
                    <a:pt x="750133" y="0"/>
                    <a:pt x="756360" y="2579"/>
                    <a:pt x="760951" y="7170"/>
                  </a:cubicBezTo>
                  <a:cubicBezTo>
                    <a:pt x="765542" y="11761"/>
                    <a:pt x="768121" y="17987"/>
                    <a:pt x="768121" y="24480"/>
                  </a:cubicBezTo>
                  <a:lnTo>
                    <a:pt x="768121" y="49927"/>
                  </a:lnTo>
                  <a:cubicBezTo>
                    <a:pt x="768121" y="56420"/>
                    <a:pt x="765542" y="62646"/>
                    <a:pt x="760951" y="67237"/>
                  </a:cubicBezTo>
                  <a:cubicBezTo>
                    <a:pt x="756360" y="71828"/>
                    <a:pt x="750133" y="74407"/>
                    <a:pt x="743641" y="74407"/>
                  </a:cubicBezTo>
                  <a:lnTo>
                    <a:pt x="24480" y="74407"/>
                  </a:lnTo>
                  <a:cubicBezTo>
                    <a:pt x="17987" y="74407"/>
                    <a:pt x="11761" y="71828"/>
                    <a:pt x="7170" y="67237"/>
                  </a:cubicBezTo>
                  <a:cubicBezTo>
                    <a:pt x="2579" y="62646"/>
                    <a:pt x="0" y="56420"/>
                    <a:pt x="0" y="49927"/>
                  </a:cubicBezTo>
                  <a:lnTo>
                    <a:pt x="0" y="24480"/>
                  </a:lnTo>
                  <a:cubicBezTo>
                    <a:pt x="0" y="17987"/>
                    <a:pt x="2579" y="11761"/>
                    <a:pt x="7170" y="7170"/>
                  </a:cubicBezTo>
                  <a:cubicBezTo>
                    <a:pt x="11761" y="2579"/>
                    <a:pt x="17987" y="0"/>
                    <a:pt x="24480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681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347297" y="7584150"/>
            <a:ext cx="4079687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클릭 시 폐기물 배출 안내 페이지로 이동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96330" y="-1141802"/>
            <a:ext cx="12883553" cy="128835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49534" y="289331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7" y="0"/>
                </a:lnTo>
                <a:lnTo>
                  <a:pt x="11069127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807607" y="-153080"/>
            <a:ext cx="10906108" cy="109061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39509" y="6081611"/>
            <a:ext cx="7649774" cy="3676495"/>
          </a:xfrm>
          <a:custGeom>
            <a:avLst/>
            <a:gdLst/>
            <a:ahLst/>
            <a:cxnLst/>
            <a:rect r="r" b="b" t="t" l="l"/>
            <a:pathLst>
              <a:path h="3676495" w="7649774">
                <a:moveTo>
                  <a:pt x="0" y="0"/>
                </a:moveTo>
                <a:lnTo>
                  <a:pt x="7649775" y="0"/>
                </a:lnTo>
                <a:lnTo>
                  <a:pt x="7649775" y="3676495"/>
                </a:lnTo>
                <a:lnTo>
                  <a:pt x="0" y="3676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94084" y="6081611"/>
            <a:ext cx="2093108" cy="3676495"/>
          </a:xfrm>
          <a:custGeom>
            <a:avLst/>
            <a:gdLst/>
            <a:ahLst/>
            <a:cxnLst/>
            <a:rect r="r" b="b" t="t" l="l"/>
            <a:pathLst>
              <a:path h="3676495" w="2093108">
                <a:moveTo>
                  <a:pt x="0" y="0"/>
                </a:moveTo>
                <a:lnTo>
                  <a:pt x="2093107" y="0"/>
                </a:lnTo>
                <a:lnTo>
                  <a:pt x="2093107" y="3676495"/>
                </a:lnTo>
                <a:lnTo>
                  <a:pt x="0" y="3676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689475" y="1146029"/>
            <a:ext cx="7001007" cy="8704237"/>
          </a:xfrm>
          <a:custGeom>
            <a:avLst/>
            <a:gdLst/>
            <a:ahLst/>
            <a:cxnLst/>
            <a:rect r="r" b="b" t="t" l="l"/>
            <a:pathLst>
              <a:path h="8704237" w="7001007">
                <a:moveTo>
                  <a:pt x="0" y="0"/>
                </a:moveTo>
                <a:lnTo>
                  <a:pt x="7001007" y="0"/>
                </a:lnTo>
                <a:lnTo>
                  <a:pt x="7001007" y="8704237"/>
                </a:lnTo>
                <a:lnTo>
                  <a:pt x="0" y="8704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7021" y="2800096"/>
            <a:ext cx="5787574" cy="1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관리자 </a:t>
            </a:r>
          </a:p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&gt; 배출 안내 자료 관리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443630" y="8860035"/>
            <a:ext cx="1629954" cy="398265"/>
            <a:chOff x="0" y="0"/>
            <a:chExt cx="304521" cy="744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475327" y="8863378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관리자 로그인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966335" y="5816977"/>
            <a:ext cx="3106517" cy="398265"/>
            <a:chOff x="0" y="0"/>
            <a:chExt cx="580383" cy="744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0383" cy="74407"/>
            </a:xfrm>
            <a:custGeom>
              <a:avLst/>
              <a:gdLst/>
              <a:ahLst/>
              <a:cxnLst/>
              <a:rect r="r" b="b" t="t" l="l"/>
              <a:pathLst>
                <a:path h="74407" w="580383">
                  <a:moveTo>
                    <a:pt x="32398" y="0"/>
                  </a:moveTo>
                  <a:lnTo>
                    <a:pt x="547985" y="0"/>
                  </a:lnTo>
                  <a:cubicBezTo>
                    <a:pt x="565878" y="0"/>
                    <a:pt x="580383" y="14505"/>
                    <a:pt x="580383" y="32398"/>
                  </a:cubicBezTo>
                  <a:lnTo>
                    <a:pt x="580383" y="42009"/>
                  </a:lnTo>
                  <a:cubicBezTo>
                    <a:pt x="580383" y="59902"/>
                    <a:pt x="565878" y="74407"/>
                    <a:pt x="547985" y="74407"/>
                  </a:cubicBezTo>
                  <a:lnTo>
                    <a:pt x="32398" y="74407"/>
                  </a:lnTo>
                  <a:cubicBezTo>
                    <a:pt x="14505" y="74407"/>
                    <a:pt x="0" y="59902"/>
                    <a:pt x="0" y="42009"/>
                  </a:cubicBezTo>
                  <a:lnTo>
                    <a:pt x="0" y="32398"/>
                  </a:lnTo>
                  <a:cubicBezTo>
                    <a:pt x="0" y="14505"/>
                    <a:pt x="14505" y="0"/>
                    <a:pt x="32398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80383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047956" y="5829363"/>
            <a:ext cx="2903238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로그인 시 나타나는 네비게이션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861845" y="9179719"/>
            <a:ext cx="1629954" cy="398265"/>
            <a:chOff x="0" y="0"/>
            <a:chExt cx="304521" cy="744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893542" y="9183062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이력 저장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444323" y="2274749"/>
            <a:ext cx="1629954" cy="398265"/>
            <a:chOff x="0" y="0"/>
            <a:chExt cx="304521" cy="7440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476020" y="2278091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원문 확인/수정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75636" y="3447898"/>
            <a:ext cx="1629954" cy="398265"/>
            <a:chOff x="0" y="0"/>
            <a:chExt cx="304521" cy="744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407333" y="3451240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자료 조회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96330" y="-1141802"/>
            <a:ext cx="12883553" cy="128835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49534" y="289331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7" y="0"/>
                </a:lnTo>
                <a:lnTo>
                  <a:pt x="11069127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807607" y="-153080"/>
            <a:ext cx="10906108" cy="109061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597220" y="5906560"/>
            <a:ext cx="8062100" cy="8237800"/>
          </a:xfrm>
          <a:custGeom>
            <a:avLst/>
            <a:gdLst/>
            <a:ahLst/>
            <a:cxnLst/>
            <a:rect r="r" b="b" t="t" l="l"/>
            <a:pathLst>
              <a:path h="8237800" w="8062100">
                <a:moveTo>
                  <a:pt x="0" y="0"/>
                </a:moveTo>
                <a:lnTo>
                  <a:pt x="8062100" y="0"/>
                </a:lnTo>
                <a:lnTo>
                  <a:pt x="8062100" y="8237799"/>
                </a:lnTo>
                <a:lnTo>
                  <a:pt x="0" y="8237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284" t="-63435" r="0" b="-273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301478" y="1156445"/>
            <a:ext cx="16491226" cy="10585305"/>
          </a:xfrm>
          <a:custGeom>
            <a:avLst/>
            <a:gdLst/>
            <a:ahLst/>
            <a:cxnLst/>
            <a:rect r="r" b="b" t="t" l="l"/>
            <a:pathLst>
              <a:path h="10585305" w="16491226">
                <a:moveTo>
                  <a:pt x="0" y="0"/>
                </a:moveTo>
                <a:lnTo>
                  <a:pt x="16491226" y="0"/>
                </a:lnTo>
                <a:lnTo>
                  <a:pt x="16491226" y="10585305"/>
                </a:lnTo>
                <a:lnTo>
                  <a:pt x="0" y="10585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716100" y="6249965"/>
            <a:ext cx="3106517" cy="398265"/>
            <a:chOff x="0" y="0"/>
            <a:chExt cx="580383" cy="744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0383" cy="74407"/>
            </a:xfrm>
            <a:custGeom>
              <a:avLst/>
              <a:gdLst/>
              <a:ahLst/>
              <a:cxnLst/>
              <a:rect r="r" b="b" t="t" l="l"/>
              <a:pathLst>
                <a:path h="74407" w="580383">
                  <a:moveTo>
                    <a:pt x="32398" y="0"/>
                  </a:moveTo>
                  <a:lnTo>
                    <a:pt x="547985" y="0"/>
                  </a:lnTo>
                  <a:cubicBezTo>
                    <a:pt x="565878" y="0"/>
                    <a:pt x="580383" y="14505"/>
                    <a:pt x="580383" y="32398"/>
                  </a:cubicBezTo>
                  <a:lnTo>
                    <a:pt x="580383" y="42009"/>
                  </a:lnTo>
                  <a:cubicBezTo>
                    <a:pt x="580383" y="59902"/>
                    <a:pt x="565878" y="74407"/>
                    <a:pt x="547985" y="74407"/>
                  </a:cubicBezTo>
                  <a:lnTo>
                    <a:pt x="32398" y="74407"/>
                  </a:lnTo>
                  <a:cubicBezTo>
                    <a:pt x="14505" y="74407"/>
                    <a:pt x="0" y="59902"/>
                    <a:pt x="0" y="42009"/>
                  </a:cubicBezTo>
                  <a:lnTo>
                    <a:pt x="0" y="32398"/>
                  </a:lnTo>
                  <a:cubicBezTo>
                    <a:pt x="0" y="14505"/>
                    <a:pt x="14505" y="0"/>
                    <a:pt x="32398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80383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65038" y="2649399"/>
            <a:ext cx="2403770" cy="398265"/>
            <a:chOff x="0" y="0"/>
            <a:chExt cx="449091" cy="74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9091" cy="74407"/>
            </a:xfrm>
            <a:custGeom>
              <a:avLst/>
              <a:gdLst/>
              <a:ahLst/>
              <a:cxnLst/>
              <a:rect r="r" b="b" t="t" l="l"/>
              <a:pathLst>
                <a:path h="74407" w="449091">
                  <a:moveTo>
                    <a:pt x="37203" y="0"/>
                  </a:moveTo>
                  <a:lnTo>
                    <a:pt x="411887" y="0"/>
                  </a:lnTo>
                  <a:cubicBezTo>
                    <a:pt x="432434" y="0"/>
                    <a:pt x="449091" y="16657"/>
                    <a:pt x="449091" y="37203"/>
                  </a:cubicBezTo>
                  <a:lnTo>
                    <a:pt x="449091" y="37203"/>
                  </a:lnTo>
                  <a:cubicBezTo>
                    <a:pt x="449091" y="47070"/>
                    <a:pt x="445171" y="56533"/>
                    <a:pt x="438194" y="63510"/>
                  </a:cubicBezTo>
                  <a:cubicBezTo>
                    <a:pt x="431217" y="70487"/>
                    <a:pt x="421754" y="74407"/>
                    <a:pt x="41188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4909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513420" y="9258300"/>
            <a:ext cx="2403770" cy="398265"/>
            <a:chOff x="0" y="0"/>
            <a:chExt cx="449091" cy="744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9091" cy="74407"/>
            </a:xfrm>
            <a:custGeom>
              <a:avLst/>
              <a:gdLst/>
              <a:ahLst/>
              <a:cxnLst/>
              <a:rect r="r" b="b" t="t" l="l"/>
              <a:pathLst>
                <a:path h="74407" w="449091">
                  <a:moveTo>
                    <a:pt x="37203" y="0"/>
                  </a:moveTo>
                  <a:lnTo>
                    <a:pt x="411887" y="0"/>
                  </a:lnTo>
                  <a:cubicBezTo>
                    <a:pt x="432434" y="0"/>
                    <a:pt x="449091" y="16657"/>
                    <a:pt x="449091" y="37203"/>
                  </a:cubicBezTo>
                  <a:lnTo>
                    <a:pt x="449091" y="37203"/>
                  </a:lnTo>
                  <a:cubicBezTo>
                    <a:pt x="449091" y="47070"/>
                    <a:pt x="445171" y="56533"/>
                    <a:pt x="438194" y="63510"/>
                  </a:cubicBezTo>
                  <a:cubicBezTo>
                    <a:pt x="431217" y="70487"/>
                    <a:pt x="421754" y="74407"/>
                    <a:pt x="41188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4909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06000" y="1258816"/>
            <a:ext cx="1629954" cy="398265"/>
            <a:chOff x="0" y="0"/>
            <a:chExt cx="304521" cy="744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0779" y="5418712"/>
            <a:ext cx="1352273" cy="398265"/>
            <a:chOff x="0" y="0"/>
            <a:chExt cx="252642" cy="744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2642" cy="74407"/>
            </a:xfrm>
            <a:custGeom>
              <a:avLst/>
              <a:gdLst/>
              <a:ahLst/>
              <a:cxnLst/>
              <a:rect r="r" b="b" t="t" l="l"/>
              <a:pathLst>
                <a:path h="74407" w="252642">
                  <a:moveTo>
                    <a:pt x="37203" y="0"/>
                  </a:moveTo>
                  <a:lnTo>
                    <a:pt x="215439" y="0"/>
                  </a:lnTo>
                  <a:cubicBezTo>
                    <a:pt x="225306" y="0"/>
                    <a:pt x="234768" y="3920"/>
                    <a:pt x="241745" y="10897"/>
                  </a:cubicBezTo>
                  <a:cubicBezTo>
                    <a:pt x="248722" y="17874"/>
                    <a:pt x="252642" y="27336"/>
                    <a:pt x="252642" y="37203"/>
                  </a:cubicBezTo>
                  <a:lnTo>
                    <a:pt x="252642" y="37203"/>
                  </a:lnTo>
                  <a:cubicBezTo>
                    <a:pt x="252642" y="57750"/>
                    <a:pt x="235986" y="74407"/>
                    <a:pt x="215439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52642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3315" y="2153086"/>
            <a:ext cx="5787574" cy="1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관리자 </a:t>
            </a:r>
          </a:p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&gt; 거점 분석 지도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17739" y="6262352"/>
            <a:ext cx="2903238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생활권·거점·도로·보호시설 필터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15305" y="2661786"/>
            <a:ext cx="2903238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선택된 자료로 시각화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263686" y="9270687"/>
            <a:ext cx="2903238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지도 보는 방법 가이드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937697" y="1262158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지도 확대/축소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43636" y="5431098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거점 정보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96330" y="-1141802"/>
            <a:ext cx="12883553" cy="128835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49534" y="289331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7" y="0"/>
                </a:lnTo>
                <a:lnTo>
                  <a:pt x="11069127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807607" y="-153080"/>
            <a:ext cx="10906108" cy="109061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42983" y="2039019"/>
            <a:ext cx="3284093" cy="8247981"/>
          </a:xfrm>
          <a:custGeom>
            <a:avLst/>
            <a:gdLst/>
            <a:ahLst/>
            <a:cxnLst/>
            <a:rect r="r" b="b" t="t" l="l"/>
            <a:pathLst>
              <a:path h="8247981" w="3284093">
                <a:moveTo>
                  <a:pt x="0" y="0"/>
                </a:moveTo>
                <a:lnTo>
                  <a:pt x="3284093" y="0"/>
                </a:lnTo>
                <a:lnTo>
                  <a:pt x="3284093" y="8247981"/>
                </a:lnTo>
                <a:lnTo>
                  <a:pt x="0" y="8247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929517" y="9523833"/>
            <a:ext cx="2094109" cy="398265"/>
            <a:chOff x="0" y="0"/>
            <a:chExt cx="391238" cy="744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1238" cy="74407"/>
            </a:xfrm>
            <a:custGeom>
              <a:avLst/>
              <a:gdLst/>
              <a:ahLst/>
              <a:cxnLst/>
              <a:rect r="r" b="b" t="t" l="l"/>
              <a:pathLst>
                <a:path h="74407" w="391238">
                  <a:moveTo>
                    <a:pt x="37203" y="0"/>
                  </a:moveTo>
                  <a:lnTo>
                    <a:pt x="354034" y="0"/>
                  </a:lnTo>
                  <a:cubicBezTo>
                    <a:pt x="363901" y="0"/>
                    <a:pt x="373364" y="3920"/>
                    <a:pt x="380341" y="10897"/>
                  </a:cubicBezTo>
                  <a:cubicBezTo>
                    <a:pt x="387318" y="17874"/>
                    <a:pt x="391238" y="27336"/>
                    <a:pt x="391238" y="37203"/>
                  </a:cubicBezTo>
                  <a:lnTo>
                    <a:pt x="391238" y="37203"/>
                  </a:lnTo>
                  <a:cubicBezTo>
                    <a:pt x="391238" y="57750"/>
                    <a:pt x="374581" y="74407"/>
                    <a:pt x="354034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91238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00400" y="1959463"/>
            <a:ext cx="12510597" cy="8207233"/>
            <a:chOff x="0" y="0"/>
            <a:chExt cx="16680796" cy="109429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9597"/>
              <a:ext cx="5925222" cy="10923380"/>
            </a:xfrm>
            <a:custGeom>
              <a:avLst/>
              <a:gdLst/>
              <a:ahLst/>
              <a:cxnLst/>
              <a:rect r="r" b="b" t="t" l="l"/>
              <a:pathLst>
                <a:path h="10923380" w="5925222">
                  <a:moveTo>
                    <a:pt x="0" y="0"/>
                  </a:moveTo>
                  <a:lnTo>
                    <a:pt x="5925222" y="0"/>
                  </a:lnTo>
                  <a:lnTo>
                    <a:pt x="5925222" y="10923380"/>
                  </a:lnTo>
                  <a:lnTo>
                    <a:pt x="0" y="10923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23" t="-179" r="-273221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925222" y="0"/>
              <a:ext cx="10755574" cy="10942977"/>
            </a:xfrm>
            <a:custGeom>
              <a:avLst/>
              <a:gdLst/>
              <a:ahLst/>
              <a:cxnLst/>
              <a:rect r="r" b="b" t="t" l="l"/>
              <a:pathLst>
                <a:path h="10942977" w="10755574">
                  <a:moveTo>
                    <a:pt x="0" y="0"/>
                  </a:moveTo>
                  <a:lnTo>
                    <a:pt x="10755574" y="0"/>
                  </a:lnTo>
                  <a:lnTo>
                    <a:pt x="10755574" y="10942977"/>
                  </a:lnTo>
                  <a:lnTo>
                    <a:pt x="0" y="1094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0875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104325" y="7354086"/>
            <a:ext cx="1629954" cy="398265"/>
            <a:chOff x="0" y="0"/>
            <a:chExt cx="304521" cy="744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80881" y="7691858"/>
            <a:ext cx="2018708" cy="398265"/>
            <a:chOff x="0" y="0"/>
            <a:chExt cx="377151" cy="744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7151" cy="74407"/>
            </a:xfrm>
            <a:custGeom>
              <a:avLst/>
              <a:gdLst/>
              <a:ahLst/>
              <a:cxnLst/>
              <a:rect r="r" b="b" t="t" l="l"/>
              <a:pathLst>
                <a:path h="74407" w="377151">
                  <a:moveTo>
                    <a:pt x="37203" y="0"/>
                  </a:moveTo>
                  <a:lnTo>
                    <a:pt x="339947" y="0"/>
                  </a:lnTo>
                  <a:cubicBezTo>
                    <a:pt x="349814" y="0"/>
                    <a:pt x="359277" y="3920"/>
                    <a:pt x="366254" y="10897"/>
                  </a:cubicBezTo>
                  <a:cubicBezTo>
                    <a:pt x="373231" y="17874"/>
                    <a:pt x="377151" y="27336"/>
                    <a:pt x="377151" y="37203"/>
                  </a:cubicBezTo>
                  <a:lnTo>
                    <a:pt x="377151" y="37203"/>
                  </a:lnTo>
                  <a:cubicBezTo>
                    <a:pt x="377151" y="57750"/>
                    <a:pt x="360494" y="74407"/>
                    <a:pt x="33994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715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38573" y="5685188"/>
            <a:ext cx="3106517" cy="398265"/>
            <a:chOff x="0" y="0"/>
            <a:chExt cx="580383" cy="744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0383" cy="74407"/>
            </a:xfrm>
            <a:custGeom>
              <a:avLst/>
              <a:gdLst/>
              <a:ahLst/>
              <a:cxnLst/>
              <a:rect r="r" b="b" t="t" l="l"/>
              <a:pathLst>
                <a:path h="74407" w="580383">
                  <a:moveTo>
                    <a:pt x="32398" y="0"/>
                  </a:moveTo>
                  <a:lnTo>
                    <a:pt x="547985" y="0"/>
                  </a:lnTo>
                  <a:cubicBezTo>
                    <a:pt x="565878" y="0"/>
                    <a:pt x="580383" y="14505"/>
                    <a:pt x="580383" y="32398"/>
                  </a:cubicBezTo>
                  <a:lnTo>
                    <a:pt x="580383" y="42009"/>
                  </a:lnTo>
                  <a:cubicBezTo>
                    <a:pt x="580383" y="59902"/>
                    <a:pt x="565878" y="74407"/>
                    <a:pt x="547985" y="74407"/>
                  </a:cubicBezTo>
                  <a:lnTo>
                    <a:pt x="32398" y="74407"/>
                  </a:lnTo>
                  <a:cubicBezTo>
                    <a:pt x="14505" y="74407"/>
                    <a:pt x="0" y="59902"/>
                    <a:pt x="0" y="42009"/>
                  </a:cubicBezTo>
                  <a:lnTo>
                    <a:pt x="0" y="32398"/>
                  </a:lnTo>
                  <a:cubicBezTo>
                    <a:pt x="0" y="14505"/>
                    <a:pt x="14505" y="0"/>
                    <a:pt x="32398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80383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7992" y="941833"/>
            <a:ext cx="5787574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관리자 &gt; 수거 경로안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028819" y="9536220"/>
            <a:ext cx="1895505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분석 조건/경로 인쇄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136023" y="7357428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수거 경로 표시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50679" y="7695201"/>
            <a:ext cx="184312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수거 경로 조건 선택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40213" y="5697575"/>
            <a:ext cx="2903238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생활권·거점·도로·보호시설 필터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5802002" y="4736191"/>
            <a:ext cx="1352273" cy="398265"/>
            <a:chOff x="0" y="0"/>
            <a:chExt cx="252642" cy="744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2642" cy="74407"/>
            </a:xfrm>
            <a:custGeom>
              <a:avLst/>
              <a:gdLst/>
              <a:ahLst/>
              <a:cxnLst/>
              <a:rect r="r" b="b" t="t" l="l"/>
              <a:pathLst>
                <a:path h="74407" w="252642">
                  <a:moveTo>
                    <a:pt x="37203" y="0"/>
                  </a:moveTo>
                  <a:lnTo>
                    <a:pt x="215439" y="0"/>
                  </a:lnTo>
                  <a:cubicBezTo>
                    <a:pt x="225306" y="0"/>
                    <a:pt x="234768" y="3920"/>
                    <a:pt x="241745" y="10897"/>
                  </a:cubicBezTo>
                  <a:cubicBezTo>
                    <a:pt x="248722" y="17874"/>
                    <a:pt x="252642" y="27336"/>
                    <a:pt x="252642" y="37203"/>
                  </a:cubicBezTo>
                  <a:lnTo>
                    <a:pt x="252642" y="37203"/>
                  </a:lnTo>
                  <a:cubicBezTo>
                    <a:pt x="252642" y="57750"/>
                    <a:pt x="235986" y="74407"/>
                    <a:pt x="215439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52642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5694858" y="4748578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거점 정보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861845" y="2931157"/>
            <a:ext cx="1629954" cy="398265"/>
            <a:chOff x="0" y="0"/>
            <a:chExt cx="304521" cy="7440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521" cy="74407"/>
            </a:xfrm>
            <a:custGeom>
              <a:avLst/>
              <a:gdLst/>
              <a:ahLst/>
              <a:cxnLst/>
              <a:rect r="r" b="b" t="t" l="l"/>
              <a:pathLst>
                <a:path h="74407" w="304521">
                  <a:moveTo>
                    <a:pt x="37203" y="0"/>
                  </a:moveTo>
                  <a:lnTo>
                    <a:pt x="267317" y="0"/>
                  </a:lnTo>
                  <a:cubicBezTo>
                    <a:pt x="287864" y="0"/>
                    <a:pt x="304521" y="16657"/>
                    <a:pt x="304521" y="37203"/>
                  </a:cubicBezTo>
                  <a:lnTo>
                    <a:pt x="304521" y="37203"/>
                  </a:lnTo>
                  <a:cubicBezTo>
                    <a:pt x="304521" y="47070"/>
                    <a:pt x="300601" y="56533"/>
                    <a:pt x="293624" y="63510"/>
                  </a:cubicBezTo>
                  <a:cubicBezTo>
                    <a:pt x="286647" y="70487"/>
                    <a:pt x="277184" y="74407"/>
                    <a:pt x="267317" y="74407"/>
                  </a:cubicBezTo>
                  <a:lnTo>
                    <a:pt x="37203" y="74407"/>
                  </a:lnTo>
                  <a:cubicBezTo>
                    <a:pt x="16657" y="74407"/>
                    <a:pt x="0" y="57750"/>
                    <a:pt x="0" y="37203"/>
                  </a:cubicBezTo>
                  <a:lnTo>
                    <a:pt x="0" y="37203"/>
                  </a:lnTo>
                  <a:cubicBezTo>
                    <a:pt x="0" y="16657"/>
                    <a:pt x="16657" y="0"/>
                    <a:pt x="37203" y="0"/>
                  </a:cubicBezTo>
                  <a:close/>
                </a:path>
              </a:pathLst>
            </a:custGeom>
            <a:solidFill>
              <a:srgbClr val="305421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04521" cy="11250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5893542" y="2934499"/>
            <a:ext cx="1566560" cy="31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8F8F8"/>
                </a:solidFill>
                <a:latin typeface="Poppins"/>
                <a:ea typeface="Poppins"/>
                <a:cs typeface="Poppins"/>
                <a:sym typeface="Poppins"/>
              </a:rPr>
              <a:t>지도 확대/축소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EC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2151" y="4100954"/>
            <a:ext cx="8543698" cy="104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  <a:spcBef>
                <a:spcPct val="0"/>
              </a:spcBef>
            </a:pPr>
            <a:r>
              <a:rPr lang="en-US" b="true" sz="5829">
                <a:solidFill>
                  <a:srgbClr val="1F4210"/>
                </a:solidFill>
                <a:latin typeface="Poppins Bold"/>
                <a:ea typeface="Poppins Bold"/>
                <a:cs typeface="Poppins Bold"/>
                <a:sym typeface="Poppins Bold"/>
              </a:rPr>
              <a:t>감사합니다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221941" y="5489709"/>
            <a:ext cx="7844119" cy="626546"/>
            <a:chOff x="0" y="0"/>
            <a:chExt cx="1427462" cy="1140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7462" cy="114018"/>
            </a:xfrm>
            <a:custGeom>
              <a:avLst/>
              <a:gdLst/>
              <a:ahLst/>
              <a:cxnLst/>
              <a:rect r="r" b="b" t="t" l="l"/>
              <a:pathLst>
                <a:path h="114018" w="1427462">
                  <a:moveTo>
                    <a:pt x="21713" y="0"/>
                  </a:moveTo>
                  <a:lnTo>
                    <a:pt x="1405749" y="0"/>
                  </a:lnTo>
                  <a:cubicBezTo>
                    <a:pt x="1411508" y="0"/>
                    <a:pt x="1417031" y="2288"/>
                    <a:pt x="1421103" y="6360"/>
                  </a:cubicBezTo>
                  <a:cubicBezTo>
                    <a:pt x="1425175" y="10432"/>
                    <a:pt x="1427462" y="15955"/>
                    <a:pt x="1427462" y="21713"/>
                  </a:cubicBezTo>
                  <a:lnTo>
                    <a:pt x="1427462" y="92305"/>
                  </a:lnTo>
                  <a:cubicBezTo>
                    <a:pt x="1427462" y="104297"/>
                    <a:pt x="1417741" y="114018"/>
                    <a:pt x="1405749" y="114018"/>
                  </a:cubicBezTo>
                  <a:lnTo>
                    <a:pt x="21713" y="114018"/>
                  </a:lnTo>
                  <a:cubicBezTo>
                    <a:pt x="9721" y="114018"/>
                    <a:pt x="0" y="104297"/>
                    <a:pt x="0" y="92305"/>
                  </a:cubicBezTo>
                  <a:lnTo>
                    <a:pt x="0" y="21713"/>
                  </a:lnTo>
                  <a:cubicBezTo>
                    <a:pt x="0" y="9721"/>
                    <a:pt x="9721" y="0"/>
                    <a:pt x="21713" y="0"/>
                  </a:cubicBezTo>
                  <a:close/>
                </a:path>
              </a:pathLst>
            </a:custGeom>
            <a:solidFill>
              <a:srgbClr val="ECF4E3"/>
            </a:solidFill>
            <a:ln w="19050" cap="rnd">
              <a:solidFill>
                <a:srgbClr val="4F823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27462" cy="15211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68887" y="5571485"/>
            <a:ext cx="7350226" cy="812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깨끗한</a:t>
            </a:r>
            <a:r>
              <a:rPr lang="en-US" b="true" sz="2299">
                <a:solidFill>
                  <a:srgbClr val="305421"/>
                </a:solidFill>
                <a:latin typeface="Poppins Bold"/>
                <a:ea typeface="Poppins Bold"/>
                <a:cs typeface="Poppins Bold"/>
                <a:sym typeface="Poppins Bold"/>
              </a:rPr>
              <a:t> 일상을 연결하는 구역, 그린존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29521" y="3361165"/>
            <a:ext cx="7516769" cy="4510062"/>
          </a:xfrm>
          <a:custGeom>
            <a:avLst/>
            <a:gdLst/>
            <a:ahLst/>
            <a:cxnLst/>
            <a:rect r="r" b="b" t="t" l="l"/>
            <a:pathLst>
              <a:path h="4510062" w="7516769">
                <a:moveTo>
                  <a:pt x="0" y="0"/>
                </a:moveTo>
                <a:lnTo>
                  <a:pt x="7516769" y="0"/>
                </a:lnTo>
                <a:lnTo>
                  <a:pt x="7516769" y="4510062"/>
                </a:lnTo>
                <a:lnTo>
                  <a:pt x="0" y="4510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93832" y="3343364"/>
            <a:ext cx="7494839" cy="4527863"/>
          </a:xfrm>
          <a:custGeom>
            <a:avLst/>
            <a:gdLst/>
            <a:ahLst/>
            <a:cxnLst/>
            <a:rect r="r" b="b" t="t" l="l"/>
            <a:pathLst>
              <a:path h="4527863" w="7494839">
                <a:moveTo>
                  <a:pt x="0" y="0"/>
                </a:moveTo>
                <a:lnTo>
                  <a:pt x="7494839" y="0"/>
                </a:lnTo>
                <a:lnTo>
                  <a:pt x="7494839" y="4527863"/>
                </a:lnTo>
                <a:lnTo>
                  <a:pt x="0" y="45278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3796" y="1433306"/>
            <a:ext cx="8991517" cy="1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부록 A | 초기 요구사항과 현재 구현</a:t>
            </a:r>
          </a:p>
          <a:p>
            <a:pPr algn="l">
              <a:lnSpc>
                <a:spcPts val="6385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29521" y="2371476"/>
            <a:ext cx="12478639" cy="85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핵심 흐름과 세부 미구현을 구분합니다. 완료 건수로 전체 진행률을 계산하지 않습니다.</a:t>
            </a:r>
          </a:p>
          <a:p>
            <a:pPr algn="l">
              <a:lnSpc>
                <a:spcPts val="3305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34271" y="8280272"/>
            <a:ext cx="12478222" cy="82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3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추가 운영 </a:t>
            </a:r>
            <a:r>
              <a:rPr lang="en-US" sz="23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기능: 자료 등록·검토·수정 미리보기·사용 중지·수정 사유·이력 복원·revision 충돌 확인</a:t>
            </a:r>
          </a:p>
          <a:p>
            <a:pPr algn="l">
              <a:lnSpc>
                <a:spcPts val="3282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43796" y="8830315"/>
            <a:ext cx="12110494" cy="72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지도 UI: 클릭 주소·핀·팝업 우선순위 조정, 검색 메뉴 접기·펼치기. 원격 master에는 아직 미병합입니다.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91421" y="3402861"/>
            <a:ext cx="8448697" cy="3898332"/>
          </a:xfrm>
          <a:custGeom>
            <a:avLst/>
            <a:gdLst/>
            <a:ahLst/>
            <a:cxnLst/>
            <a:rect r="r" b="b" t="t" l="l"/>
            <a:pathLst>
              <a:path h="3898332" w="8448697">
                <a:moveTo>
                  <a:pt x="0" y="0"/>
                </a:moveTo>
                <a:lnTo>
                  <a:pt x="8448697" y="0"/>
                </a:lnTo>
                <a:lnTo>
                  <a:pt x="8448697" y="3898332"/>
                </a:lnTo>
                <a:lnTo>
                  <a:pt x="0" y="3898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35021" y="3402861"/>
            <a:ext cx="7670458" cy="3898332"/>
          </a:xfrm>
          <a:custGeom>
            <a:avLst/>
            <a:gdLst/>
            <a:ahLst/>
            <a:cxnLst/>
            <a:rect r="r" b="b" t="t" l="l"/>
            <a:pathLst>
              <a:path h="3898332" w="7670458">
                <a:moveTo>
                  <a:pt x="0" y="0"/>
                </a:moveTo>
                <a:lnTo>
                  <a:pt x="7670458" y="0"/>
                </a:lnTo>
                <a:lnTo>
                  <a:pt x="7670458" y="3898332"/>
                </a:lnTo>
                <a:lnTo>
                  <a:pt x="0" y="3898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3796" y="1433306"/>
            <a:ext cx="8991517" cy="1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부록 B | 데이터 출처와 분석 수치</a:t>
            </a:r>
          </a:p>
          <a:p>
            <a:pPr algn="l">
              <a:lnSpc>
                <a:spcPts val="6385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91421" y="2333376"/>
            <a:ext cx="14550911" cy="85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18개 자료군의 URL·기준시점·컬럼·가공·코드 연결은 DATA_SPECIFICATION.csv에서 확인합니다.</a:t>
            </a:r>
          </a:p>
          <a:p>
            <a:pPr algn="l">
              <a:lnSpc>
                <a:spcPts val="3305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1421" y="7946951"/>
            <a:ext cx="3449743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배출량 조건부 추정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1421" y="8615099"/>
            <a:ext cx="9094239" cy="109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권역 물량 × 신월1동 가구수 비율 × 비아파트 주택 비율 대리값.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공식 관측은 2019-01~2026-06이며 2026년 값은 6개월분입니다.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8947929" y="7946951"/>
            <a:ext cx="3449743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해석 제한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947929" y="8615099"/>
            <a:ext cx="9094239" cy="109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주민 검색은 자기 생활권 배정 기준입니다.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7,193단위는 실거주 인구가 아니며, 추정량은 실측 배출량·거점 용량이 아닙니다.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57605" y="3613807"/>
            <a:ext cx="7991832" cy="2945087"/>
          </a:xfrm>
          <a:custGeom>
            <a:avLst/>
            <a:gdLst/>
            <a:ahLst/>
            <a:cxnLst/>
            <a:rect r="r" b="b" t="t" l="l"/>
            <a:pathLst>
              <a:path h="2945087" w="7991832">
                <a:moveTo>
                  <a:pt x="0" y="0"/>
                </a:moveTo>
                <a:lnTo>
                  <a:pt x="7991832" y="0"/>
                </a:lnTo>
                <a:lnTo>
                  <a:pt x="7991832" y="2945086"/>
                </a:lnTo>
                <a:lnTo>
                  <a:pt x="0" y="2945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98334" y="3613807"/>
            <a:ext cx="8060966" cy="2945087"/>
          </a:xfrm>
          <a:custGeom>
            <a:avLst/>
            <a:gdLst/>
            <a:ahLst/>
            <a:cxnLst/>
            <a:rect r="r" b="b" t="t" l="l"/>
            <a:pathLst>
              <a:path h="2945087" w="8060966">
                <a:moveTo>
                  <a:pt x="0" y="0"/>
                </a:moveTo>
                <a:lnTo>
                  <a:pt x="8060966" y="0"/>
                </a:lnTo>
                <a:lnTo>
                  <a:pt x="8060966" y="2945086"/>
                </a:lnTo>
                <a:lnTo>
                  <a:pt x="0" y="2945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3796" y="1433306"/>
            <a:ext cx="8991517" cy="1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부록 C | 평가 기록과 최종 AI 방식</a:t>
            </a:r>
          </a:p>
          <a:p>
            <a:pPr algn="l">
              <a:lnSpc>
                <a:spcPts val="6385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91421" y="2333376"/>
            <a:ext cx="14550911" cy="85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각 기록의 분모와 검토 방식을 구분합니다. 개발 질문 재평가를 일반 정확도로 발표하지 않습니다.</a:t>
            </a:r>
          </a:p>
          <a:p>
            <a:pPr algn="l">
              <a:lnSpc>
                <a:spcPts val="3305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1421" y="7378043"/>
            <a:ext cx="4972229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사진 비교: 15장 × 5방식 = 75회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1421" y="8046192"/>
            <a:ext cx="9094239" cy="145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실사진 12장 + 합성 무물체 3장. 정답 초안 7장·보류 5장.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현재 환경의 시간 중앙값: Gemini 3.181초, DINO 결합 18.235초.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후보를 내면 안 되는 사진에도 후보가 나오는 사례를 남겼습니다.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8607170" y="7378043"/>
            <a:ext cx="3449743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최종 선택과 남은 검수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607170" y="8046192"/>
            <a:ext cx="9094239" cy="145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Gemini 후보 제안 → 사용자 품목 확인·수정 → 규격·수량 확인.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YOLO·DINO는 서비스 연결 없이 비교 실험으로 보존합니다.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독립 질문·팀원 원문 대조·다른 PC 실행 확인이 남아 있습니다.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73BF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3796" y="1433306"/>
            <a:ext cx="8991517" cy="1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부록 D | 운영 범위와 향후 확장</a:t>
            </a:r>
          </a:p>
          <a:p>
            <a:pPr algn="l">
              <a:lnSpc>
                <a:spcPts val="6385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91421" y="2333376"/>
            <a:ext cx="14550911" cy="85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실제 설치·수거 효과와 향후 연계는 현재 구현과 구분합니다.</a:t>
            </a:r>
          </a:p>
          <a:p>
            <a:pPr algn="l">
              <a:lnSpc>
                <a:spcPts val="3305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75139" y="508000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GreenZone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7992" y="380345"/>
            <a:ext cx="351288" cy="3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1421" y="3423810"/>
            <a:ext cx="4972229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로컬 운영과 입력 처리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91421" y="4091958"/>
            <a:ext cx="9094239" cy="181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FastAPI 서버 1개 + SQLite(records·history·seeds).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검색·사진·질문 원문을 운영 DB에 보관하지 않습니다.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사진 EXIF 제거·축소 후 외부 API로 전송하며 공급자 정책은 별도입니다.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얼굴·번호판 자동 마스킹과 영상 관제는 제공하지 않습니다.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342626" y="3423810"/>
            <a:ext cx="3449743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서비스 시연과 한계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342626" y="4091958"/>
            <a:ext cx="9094239" cy="181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주소 → 담당 거점안 / 사진 후보 → 품목 수정 → 규격·금액 확인.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취소·환불 질문은 공식 출처·확인일을 표시합니다.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실제 예약·결제·취소는 공식 신청 사이트에서 처리합니다.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관리자 자료 수정·복원은 같은 서버 DB에 반영됩니다.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91421" y="6775598"/>
            <a:ext cx="4972229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단계별 확장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91421" y="7443746"/>
            <a:ext cx="9094239" cy="181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승인 시설의 운영시간·품목·임시 중지·관리기관 정보.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기관 협의와 공식 연계 수단 확보 후 예약·수거 상태 연결.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인근 공식 지정 흡연구역 검색·운영 정보 관리를 검토합니다.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꽁초 쓰레기통 ≠ 흡연 허용구역. 거점 병설 계획은 아닙니다.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342626" y="6775598"/>
            <a:ext cx="3449743" cy="98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도입 후 측정할 지표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342626" y="7443746"/>
            <a:ext cx="9094239" cy="181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방치 건수·시간, 오배출·미수거·재방문, 실제 이동거리.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독립 질문의 해결·오답·불필요한 보류를 사람과 검토합니다.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부지 동의·유효폭·정차·보행·관리 책임의 확인이 먼저입니다.</a:t>
            </a:r>
          </a:p>
          <a:p>
            <a:pPr algn="l">
              <a:lnSpc>
                <a:spcPts val="2885"/>
              </a:lnSpc>
            </a:pPr>
            <a:r>
              <a:rPr lang="en-US" sz="2060">
                <a:solidFill>
                  <a:srgbClr val="5D6262"/>
                </a:solidFill>
                <a:latin typeface="Poppins"/>
                <a:ea typeface="Poppins"/>
                <a:cs typeface="Poppins"/>
                <a:sym typeface="Poppins"/>
              </a:rPr>
              <a:t>현재 수거량 감소·안전 개선·청결 향상 실적은 없습니다.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DAHYyfqFaDU</dc:identifier>
  <dcterms:modified xsi:type="dcterms:W3CDTF">2011-08-01T06:04:30Z</dcterms:modified>
  <cp:revision>1</cp:revision>
  <dc:title>Blue White Modern Pitch Deck Presentation</dc:title>
</cp:coreProperties>
</file>